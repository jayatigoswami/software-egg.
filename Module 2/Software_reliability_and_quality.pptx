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507" r:id="rId2"/>
    <p:sldId id="508" r:id="rId3"/>
    <p:sldId id="256" r:id="rId4"/>
    <p:sldId id="272" r:id="rId5"/>
    <p:sldId id="263" r:id="rId6"/>
    <p:sldId id="273" r:id="rId7"/>
    <p:sldId id="282" r:id="rId8"/>
    <p:sldId id="283" r:id="rId9"/>
    <p:sldId id="284" r:id="rId10"/>
    <p:sldId id="292" r:id="rId11"/>
    <p:sldId id="293" r:id="rId12"/>
    <p:sldId id="294" r:id="rId13"/>
    <p:sldId id="295" r:id="rId14"/>
    <p:sldId id="307" r:id="rId15"/>
    <p:sldId id="297" r:id="rId16"/>
    <p:sldId id="296" r:id="rId17"/>
    <p:sldId id="299" r:id="rId18"/>
    <p:sldId id="300" r:id="rId19"/>
    <p:sldId id="302" r:id="rId20"/>
    <p:sldId id="303" r:id="rId21"/>
    <p:sldId id="304" r:id="rId22"/>
    <p:sldId id="305" r:id="rId23"/>
    <p:sldId id="306" r:id="rId24"/>
    <p:sldId id="50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AF4A8A5-EFA5-45E6-A642-EC53FDDED180}">
          <p14:sldIdLst>
            <p14:sldId id="507"/>
            <p14:sldId id="508"/>
            <p14:sldId id="256"/>
            <p14:sldId id="272"/>
            <p14:sldId id="263"/>
            <p14:sldId id="273"/>
            <p14:sldId id="282"/>
            <p14:sldId id="283"/>
            <p14:sldId id="284"/>
            <p14:sldId id="292"/>
            <p14:sldId id="293"/>
            <p14:sldId id="294"/>
            <p14:sldId id="295"/>
            <p14:sldId id="307"/>
            <p14:sldId id="297"/>
            <p14:sldId id="296"/>
            <p14:sldId id="299"/>
            <p14:sldId id="300"/>
            <p14:sldId id="302"/>
            <p14:sldId id="303"/>
            <p14:sldId id="304"/>
            <p14:sldId id="305"/>
            <p14:sldId id="306"/>
            <p14:sldId id="5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109" autoAdjust="0"/>
  </p:normalViewPr>
  <p:slideViewPr>
    <p:cSldViewPr snapToGrid="0">
      <p:cViewPr varScale="1">
        <p:scale>
          <a:sx n="76" d="100"/>
          <a:sy n="76" d="100"/>
        </p:scale>
        <p:origin x="9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3/20/2026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t>3/20/2026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a:fillRect/>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t>3/20/2026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73F24-781D-9D46-DA43-EC39708C4B50}"/>
              </a:ext>
            </a:extLst>
          </p:cNvPr>
          <p:cNvSpPr>
            <a:spLocks noGrp="1"/>
          </p:cNvSpPr>
          <p:nvPr>
            <p:ph type="ctrTitle"/>
          </p:nvPr>
        </p:nvSpPr>
        <p:spPr>
          <a:xfrm>
            <a:off x="3901440" y="1428125"/>
            <a:ext cx="7803652" cy="2591889"/>
          </a:xfrm>
        </p:spPr>
        <p:txBody>
          <a:bodyPr>
            <a:normAutofit fontScale="90000"/>
          </a:bodyPr>
          <a:lstStyle/>
          <a:p>
            <a:pPr algn="ctr"/>
            <a:br>
              <a:rPr lang="en-US" sz="4400" dirty="0"/>
            </a:br>
            <a:br>
              <a:rPr lang="en-US" sz="4400" dirty="0"/>
            </a:br>
            <a:br>
              <a:rPr lang="en-US" sz="4400" dirty="0"/>
            </a:br>
            <a:br>
              <a:rPr lang="en-US" sz="4400" dirty="0"/>
            </a:br>
            <a:r>
              <a:rPr lang="en-US" sz="4400" dirty="0"/>
              <a:t>SOFTWARE ENGINEERING And testing</a:t>
            </a:r>
            <a:br>
              <a:rPr lang="en-US" sz="4400" dirty="0"/>
            </a:br>
            <a:r>
              <a:rPr lang="en-US" sz="4400" dirty="0"/>
              <a:t>(BCAC 0027)</a:t>
            </a:r>
            <a:br>
              <a:rPr lang="en-US" dirty="0"/>
            </a:br>
            <a:endParaRPr lang="en-IN" dirty="0"/>
          </a:p>
        </p:txBody>
      </p:sp>
      <p:pic>
        <p:nvPicPr>
          <p:cNvPr id="4" name="Picture 2" descr="ISCON 2023 | GLAU">
            <a:extLst>
              <a:ext uri="{FF2B5EF4-FFF2-40B4-BE49-F238E27FC236}">
                <a16:creationId xmlns:a16="http://schemas.microsoft.com/office/drawing/2014/main" id="{6482D47A-1E7A-635F-FA26-4FF6D9D8BF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222995" cy="2119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412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3465946" y="1133970"/>
            <a:ext cx="5260108" cy="81763"/>
          </a:xfrm>
          <a:custGeom>
            <a:avLst/>
            <a:gdLst/>
            <a:ahLst/>
            <a:cxnLst/>
            <a:rect l="l" t="t" r="r" b="b"/>
            <a:pathLst>
              <a:path w="7890162" h="122645">
                <a:moveTo>
                  <a:pt x="0" y="0"/>
                </a:moveTo>
                <a:lnTo>
                  <a:pt x="7890162" y="0"/>
                </a:lnTo>
                <a:lnTo>
                  <a:pt x="7890162" y="122645"/>
                </a:lnTo>
                <a:lnTo>
                  <a:pt x="0" y="1226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aphicFrame>
        <p:nvGraphicFramePr>
          <p:cNvPr id="13" name="Table 12">
            <a:extLst>
              <a:ext uri="{FF2B5EF4-FFF2-40B4-BE49-F238E27FC236}">
                <a16:creationId xmlns:a16="http://schemas.microsoft.com/office/drawing/2014/main" id="{4C3701E4-0082-7992-1333-4F70AB685778}"/>
              </a:ext>
            </a:extLst>
          </p:cNvPr>
          <p:cNvGraphicFramePr>
            <a:graphicFrameLocks noGrp="1"/>
          </p:cNvGraphicFramePr>
          <p:nvPr>
            <p:extLst>
              <p:ext uri="{D42A27DB-BD31-4B8C-83A1-F6EECF244321}">
                <p14:modId xmlns:p14="http://schemas.microsoft.com/office/powerpoint/2010/main" val="496712959"/>
              </p:ext>
            </p:extLst>
          </p:nvPr>
        </p:nvGraphicFramePr>
        <p:xfrm>
          <a:off x="0" y="2301"/>
          <a:ext cx="12192000" cy="6942877"/>
        </p:xfrm>
        <a:graphic>
          <a:graphicData uri="http://schemas.openxmlformats.org/drawingml/2006/table">
            <a:tbl>
              <a:tblPr firstRow="1" bandRow="1">
                <a:tableStyleId>{5C22544A-7EE6-4342-B048-85BDC9FD1C3A}</a:tableStyleId>
              </a:tblPr>
              <a:tblGrid>
                <a:gridCol w="1156138">
                  <a:extLst>
                    <a:ext uri="{9D8B030D-6E8A-4147-A177-3AD203B41FA5}">
                      <a16:colId xmlns:a16="http://schemas.microsoft.com/office/drawing/2014/main" val="3916817296"/>
                    </a:ext>
                  </a:extLst>
                </a:gridCol>
                <a:gridCol w="9932276">
                  <a:extLst>
                    <a:ext uri="{9D8B030D-6E8A-4147-A177-3AD203B41FA5}">
                      <a16:colId xmlns:a16="http://schemas.microsoft.com/office/drawing/2014/main" val="2012087499"/>
                    </a:ext>
                  </a:extLst>
                </a:gridCol>
                <a:gridCol w="1103586">
                  <a:extLst>
                    <a:ext uri="{9D8B030D-6E8A-4147-A177-3AD203B41FA5}">
                      <a16:colId xmlns:a16="http://schemas.microsoft.com/office/drawing/2014/main" val="2377515424"/>
                    </a:ext>
                  </a:extLst>
                </a:gridCol>
              </a:tblGrid>
              <a:tr h="592877">
                <a:tc>
                  <a:txBody>
                    <a:bodyPr/>
                    <a:lstStyle/>
                    <a:p>
                      <a:pPr algn="ctr"/>
                      <a:r>
                        <a:rPr lang="en-IN" sz="1600" dirty="0"/>
                        <a:t>Module</a:t>
                      </a:r>
                    </a:p>
                    <a:p>
                      <a:pPr algn="ctr"/>
                      <a:r>
                        <a:rPr lang="en-IN" sz="1600" dirty="0"/>
                        <a:t>No.</a:t>
                      </a:r>
                    </a:p>
                  </a:txBody>
                  <a:tcPr marL="60960" marR="60960" marT="30480" marB="30480"/>
                </a:tc>
                <a:tc>
                  <a:txBody>
                    <a:bodyPr/>
                    <a:lstStyle/>
                    <a:p>
                      <a:pPr algn="ctr"/>
                      <a:r>
                        <a:rPr lang="en-IN" sz="1600" dirty="0"/>
                        <a:t>Content</a:t>
                      </a:r>
                    </a:p>
                  </a:txBody>
                  <a:tcPr marL="60960" marR="60960" marT="30480" marB="30480"/>
                </a:tc>
                <a:tc>
                  <a:txBody>
                    <a:bodyPr/>
                    <a:lstStyle/>
                    <a:p>
                      <a:pPr algn="ctr"/>
                      <a:r>
                        <a:rPr lang="en-IN" sz="1600" dirty="0"/>
                        <a:t>Teaching Hours</a:t>
                      </a:r>
                    </a:p>
                  </a:txBody>
                  <a:tcPr marL="60960" marR="60960" marT="30480" marB="30480"/>
                </a:tc>
                <a:extLst>
                  <a:ext uri="{0D108BD9-81ED-4DB2-BD59-A6C34878D82A}">
                    <a16:rowId xmlns:a16="http://schemas.microsoft.com/office/drawing/2014/main" val="2711006148"/>
                  </a:ext>
                </a:extLst>
              </a:tr>
              <a:tr h="2719505">
                <a:tc>
                  <a:txBody>
                    <a:bodyPr/>
                    <a:lstStyle/>
                    <a:p>
                      <a:pPr algn="ctr"/>
                      <a:r>
                        <a:rPr lang="en-IN" sz="1600" dirty="0"/>
                        <a:t>I</a:t>
                      </a:r>
                    </a:p>
                  </a:txBody>
                  <a:tcPr marL="60960" marR="60960" marT="30480" marB="30480"/>
                </a:tc>
                <a:tc>
                  <a:txBody>
                    <a:bodyPr/>
                    <a:lstStyle/>
                    <a:p>
                      <a:r>
                        <a:rPr lang="en-US" sz="1600" b="1" i="0" u="none" strike="noStrike" kern="1200" baseline="0" dirty="0">
                          <a:solidFill>
                            <a:schemeClr val="dk1"/>
                          </a:solidFill>
                          <a:latin typeface="+mn-lt"/>
                          <a:ea typeface="+mn-ea"/>
                          <a:cs typeface="+mn-cs"/>
                        </a:rPr>
                        <a:t>Introduction: </a:t>
                      </a:r>
                      <a:r>
                        <a:rPr lang="en-US" sz="1600" b="0" i="0" u="none" strike="noStrike" kern="1200" baseline="0" dirty="0">
                          <a:solidFill>
                            <a:schemeClr val="dk1"/>
                          </a:solidFill>
                          <a:latin typeface="+mn-lt"/>
                          <a:ea typeface="+mn-ea"/>
                          <a:cs typeface="+mn-cs"/>
                        </a:rPr>
                        <a:t>Introduction to Software Engineering, Software characteristics, Software Crisis, Software Engineering Process. </a:t>
                      </a:r>
                    </a:p>
                    <a:p>
                      <a:r>
                        <a:rPr lang="en-IN" sz="1600" b="1" i="0" u="none" strike="noStrike" kern="1200" baseline="0" dirty="0">
                          <a:solidFill>
                            <a:schemeClr val="dk1"/>
                          </a:solidFill>
                          <a:latin typeface="+mn-lt"/>
                          <a:ea typeface="+mn-ea"/>
                          <a:cs typeface="+mn-cs"/>
                        </a:rPr>
                        <a:t>Software Development Life Cycle (SDLC) Models: </a:t>
                      </a:r>
                      <a:r>
                        <a:rPr lang="en-IN" sz="1600" b="0" i="0" u="none" strike="noStrike" kern="1200" baseline="0" dirty="0">
                          <a:solidFill>
                            <a:schemeClr val="dk1"/>
                          </a:solidFill>
                          <a:latin typeface="+mn-lt"/>
                          <a:ea typeface="+mn-ea"/>
                          <a:cs typeface="+mn-cs"/>
                        </a:rPr>
                        <a:t>Waterfall, Incremental, Iterative Enhancement, Prototype, RAD and Spiral Models. </a:t>
                      </a:r>
                    </a:p>
                    <a:p>
                      <a:r>
                        <a:rPr lang="en-US" sz="1600" b="1" i="0" u="none" strike="noStrike" kern="1200" baseline="0" dirty="0">
                          <a:solidFill>
                            <a:schemeClr val="dk1"/>
                          </a:solidFill>
                          <a:latin typeface="+mn-lt"/>
                          <a:ea typeface="+mn-ea"/>
                          <a:cs typeface="+mn-cs"/>
                        </a:rPr>
                        <a:t>Software Requirements Engineering: </a:t>
                      </a:r>
                      <a:r>
                        <a:rPr lang="en-US" sz="1600" b="0" i="0" u="none" strike="noStrike" kern="1200" baseline="0" dirty="0">
                          <a:solidFill>
                            <a:schemeClr val="dk1"/>
                          </a:solidFill>
                          <a:latin typeface="+mn-lt"/>
                          <a:ea typeface="+mn-ea"/>
                          <a:cs typeface="+mn-cs"/>
                        </a:rPr>
                        <a:t>Types of Requirements, Requirement Elicitation Techniques Like Interviews, FAST &amp; QFD, Use case Approach, Requirements Analysis Using DFD, Data Dictionaries &amp; ER Diagrams, Requirements Documentation, and SRS. </a:t>
                      </a:r>
                    </a:p>
                    <a:p>
                      <a:r>
                        <a:rPr lang="en-US" sz="1600" b="1" i="0" u="none" strike="noStrike" kern="1200" baseline="0" dirty="0">
                          <a:solidFill>
                            <a:schemeClr val="dk1"/>
                          </a:solidFill>
                          <a:latin typeface="+mn-lt"/>
                          <a:ea typeface="+mn-ea"/>
                          <a:cs typeface="+mn-cs"/>
                        </a:rPr>
                        <a:t>Software Project Planning: </a:t>
                      </a:r>
                      <a:r>
                        <a:rPr lang="en-US" sz="1600" b="0" i="0" u="none" strike="noStrike" kern="1200" baseline="0" dirty="0">
                          <a:solidFill>
                            <a:schemeClr val="dk1"/>
                          </a:solidFill>
                          <a:latin typeface="+mn-lt"/>
                          <a:ea typeface="+mn-ea"/>
                          <a:cs typeface="+mn-cs"/>
                        </a:rPr>
                        <a:t>Size Estimation like Lines of Code &amp; Function Count, Cost. </a:t>
                      </a:r>
                    </a:p>
                    <a:p>
                      <a:r>
                        <a:rPr lang="en-US" sz="1600" b="1" i="0" u="none" strike="noStrike" kern="1200" baseline="0" dirty="0">
                          <a:solidFill>
                            <a:schemeClr val="dk1"/>
                          </a:solidFill>
                          <a:latin typeface="+mn-lt"/>
                          <a:ea typeface="+mn-ea"/>
                          <a:cs typeface="+mn-cs"/>
                        </a:rPr>
                        <a:t>Estimation Models: </a:t>
                      </a:r>
                      <a:r>
                        <a:rPr lang="en-US" sz="1600" b="0" i="0" u="none" strike="noStrike" kern="1200" baseline="0" dirty="0">
                          <a:solidFill>
                            <a:schemeClr val="dk1"/>
                          </a:solidFill>
                          <a:latin typeface="+mn-lt"/>
                          <a:ea typeface="+mn-ea"/>
                          <a:cs typeface="+mn-cs"/>
                        </a:rPr>
                        <a:t>COCOMO (Basic, Intermediate) </a:t>
                      </a:r>
                    </a:p>
                    <a:p>
                      <a:r>
                        <a:rPr lang="en-US" sz="1600" b="1" i="0" u="none" strike="noStrike" kern="1200" baseline="0" dirty="0">
                          <a:solidFill>
                            <a:schemeClr val="dk1"/>
                          </a:solidFill>
                          <a:latin typeface="+mn-lt"/>
                          <a:ea typeface="+mn-ea"/>
                          <a:cs typeface="+mn-cs"/>
                        </a:rPr>
                        <a:t>Software Design: </a:t>
                      </a:r>
                      <a:r>
                        <a:rPr lang="en-US" sz="1600" b="0" i="0" u="none" strike="noStrike" kern="1200" baseline="0" dirty="0">
                          <a:solidFill>
                            <a:schemeClr val="dk1"/>
                          </a:solidFill>
                          <a:latin typeface="+mn-lt"/>
                          <a:ea typeface="+mn-ea"/>
                          <a:cs typeface="+mn-cs"/>
                        </a:rPr>
                        <a:t>Cohesion &amp; Coupling, Classification of Cohesion &amp; Coupling, Function Oriented Design, Object Oriented Design, Structure chart. </a:t>
                      </a:r>
                    </a:p>
                    <a:p>
                      <a:r>
                        <a:rPr lang="en-US" sz="1600" b="1" i="0" u="none" strike="noStrike" kern="1200" baseline="0" dirty="0">
                          <a:solidFill>
                            <a:schemeClr val="dk1"/>
                          </a:solidFill>
                          <a:latin typeface="+mn-lt"/>
                          <a:ea typeface="+mn-ea"/>
                          <a:cs typeface="+mn-cs"/>
                        </a:rPr>
                        <a:t>Coding: </a:t>
                      </a:r>
                      <a:r>
                        <a:rPr lang="en-US" sz="1600" b="0" i="0" u="none" strike="noStrike" kern="1200" baseline="0" dirty="0">
                          <a:solidFill>
                            <a:schemeClr val="dk1"/>
                          </a:solidFill>
                          <a:latin typeface="+mn-lt"/>
                          <a:ea typeface="+mn-ea"/>
                          <a:cs typeface="+mn-cs"/>
                        </a:rPr>
                        <a:t>Characteristics of Coding and Coding style. </a:t>
                      </a:r>
                      <a:r>
                        <a:rPr lang="en-US" sz="1600" b="0" i="0" u="none" strike="noStrike" kern="1200" baseline="0" dirty="0">
                          <a:solidFill>
                            <a:schemeClr val="dk1"/>
                          </a:solidFill>
                          <a:highlight>
                            <a:srgbClr val="FFFF00"/>
                          </a:highlight>
                          <a:latin typeface="+mn-lt"/>
                          <a:ea typeface="+mn-ea"/>
                          <a:cs typeface="+mn-cs"/>
                        </a:rPr>
                        <a:t>	</a:t>
                      </a:r>
                    </a:p>
                  </a:txBody>
                  <a:tcPr marL="60960" marR="60960" marT="30480" marB="30480"/>
                </a:tc>
                <a:tc>
                  <a:txBody>
                    <a:bodyPr/>
                    <a:lstStyle/>
                    <a:p>
                      <a:pPr algn="ctr"/>
                      <a:r>
                        <a:rPr lang="en-IN" sz="1600" dirty="0"/>
                        <a:t>20</a:t>
                      </a:r>
                    </a:p>
                  </a:txBody>
                  <a:tcPr marL="60960" marR="60960" marT="30480" marB="30480"/>
                </a:tc>
                <a:extLst>
                  <a:ext uri="{0D108BD9-81ED-4DB2-BD59-A6C34878D82A}">
                    <a16:rowId xmlns:a16="http://schemas.microsoft.com/office/drawing/2014/main" val="49747561"/>
                  </a:ext>
                </a:extLst>
              </a:tr>
              <a:tr h="3362960">
                <a:tc>
                  <a:txBody>
                    <a:bodyPr/>
                    <a:lstStyle/>
                    <a:p>
                      <a:pPr lvl="0" algn="ctr"/>
                      <a:r>
                        <a:rPr lang="en-IN" sz="1600" dirty="0"/>
                        <a:t>II</a:t>
                      </a:r>
                    </a:p>
                  </a:txBody>
                  <a:tcPr marL="60960" marR="60960" marT="30480" marB="30480"/>
                </a:tc>
                <a:tc>
                  <a:txBody>
                    <a:bodyPr/>
                    <a:lstStyle/>
                    <a:p>
                      <a:r>
                        <a:rPr lang="en-US" sz="1600" b="1" i="0" u="none" strike="noStrike" kern="1200" baseline="0" dirty="0">
                          <a:solidFill>
                            <a:schemeClr val="dk1"/>
                          </a:solidFill>
                          <a:latin typeface="+mn-lt"/>
                          <a:ea typeface="+mn-ea"/>
                          <a:cs typeface="+mn-cs"/>
                        </a:rPr>
                        <a:t>Software Metrics: </a:t>
                      </a:r>
                      <a:r>
                        <a:rPr lang="en-US" sz="1600" b="0" i="0" u="none" strike="noStrike" kern="1200" baseline="0" dirty="0">
                          <a:solidFill>
                            <a:schemeClr val="dk1"/>
                          </a:solidFill>
                          <a:latin typeface="+mn-lt"/>
                          <a:ea typeface="+mn-ea"/>
                          <a:cs typeface="+mn-cs"/>
                        </a:rPr>
                        <a:t>Software Measurements, Token Count, Halstead Software, Measures. </a:t>
                      </a:r>
                    </a:p>
                    <a:p>
                      <a:r>
                        <a:rPr lang="en-US" sz="1600" b="1" i="0" u="none" strike="noStrike" kern="1200" baseline="0" dirty="0">
                          <a:solidFill>
                            <a:schemeClr val="dk1"/>
                          </a:solidFill>
                          <a:highlight>
                            <a:srgbClr val="FFFF00"/>
                          </a:highlight>
                          <a:latin typeface="+mn-lt"/>
                          <a:ea typeface="+mn-ea"/>
                          <a:cs typeface="+mn-cs"/>
                        </a:rPr>
                        <a:t>Software Reliability &amp; Quality: </a:t>
                      </a:r>
                      <a:r>
                        <a:rPr lang="en-US" sz="1600" b="0" i="0" u="none" strike="noStrike" kern="1200" baseline="0" dirty="0">
                          <a:solidFill>
                            <a:schemeClr val="dk1"/>
                          </a:solidFill>
                          <a:highlight>
                            <a:srgbClr val="FFFF00"/>
                          </a:highlight>
                          <a:latin typeface="+mn-lt"/>
                          <a:ea typeface="+mn-ea"/>
                          <a:cs typeface="+mn-cs"/>
                        </a:rPr>
                        <a:t>Introduction of Mc Call’s &amp; Boehm’s Quality Model, Capability Maturity Models </a:t>
                      </a:r>
                    </a:p>
                    <a:p>
                      <a:r>
                        <a:rPr lang="en-US" sz="1600" b="1" i="0" u="none" strike="noStrike" kern="1200" baseline="0" dirty="0">
                          <a:solidFill>
                            <a:schemeClr val="dk1"/>
                          </a:solidFill>
                          <a:latin typeface="+mn-lt"/>
                          <a:ea typeface="+mn-ea"/>
                          <a:cs typeface="+mn-cs"/>
                        </a:rPr>
                        <a:t>Software Reliability Models</a:t>
                      </a:r>
                      <a:r>
                        <a:rPr lang="en-US" sz="1600" b="0" i="0" u="none" strike="noStrike" kern="1200" baseline="0" dirty="0">
                          <a:solidFill>
                            <a:schemeClr val="dk1"/>
                          </a:solidFill>
                          <a:latin typeface="+mn-lt"/>
                          <a:ea typeface="+mn-ea"/>
                          <a:cs typeface="+mn-cs"/>
                        </a:rPr>
                        <a:t>: Basic Execution Time Model. </a:t>
                      </a:r>
                    </a:p>
                    <a:p>
                      <a:r>
                        <a:rPr lang="en-IN" sz="1600" b="1" i="0" u="none" strike="noStrike" kern="1200" baseline="0" dirty="0">
                          <a:solidFill>
                            <a:schemeClr val="dk1"/>
                          </a:solidFill>
                          <a:latin typeface="+mn-lt"/>
                          <a:ea typeface="+mn-ea"/>
                          <a:cs typeface="+mn-cs"/>
                        </a:rPr>
                        <a:t>Software Testing: </a:t>
                      </a:r>
                      <a:endParaRPr lang="en-IN" sz="1600" b="0" i="0" u="none" strike="noStrike" kern="1200" baseline="0" dirty="0">
                        <a:solidFill>
                          <a:schemeClr val="dk1"/>
                        </a:solidFill>
                        <a:latin typeface="+mn-lt"/>
                        <a:ea typeface="+mn-ea"/>
                        <a:cs typeface="+mn-cs"/>
                      </a:endParaRPr>
                    </a:p>
                    <a:p>
                      <a:r>
                        <a:rPr lang="en-US" sz="1600" b="1" i="0" u="none" strike="noStrike" kern="1200" baseline="0" dirty="0">
                          <a:solidFill>
                            <a:schemeClr val="dk1"/>
                          </a:solidFill>
                          <a:latin typeface="+mn-lt"/>
                          <a:ea typeface="+mn-ea"/>
                          <a:cs typeface="+mn-cs"/>
                        </a:rPr>
                        <a:t>Testing Fundamentals: </a:t>
                      </a:r>
                      <a:r>
                        <a:rPr lang="en-US" sz="1600" b="0" i="0" u="none" strike="noStrike" kern="1200" baseline="0" dirty="0">
                          <a:solidFill>
                            <a:schemeClr val="dk1"/>
                          </a:solidFill>
                          <a:latin typeface="+mn-lt"/>
                          <a:ea typeface="+mn-ea"/>
                          <a:cs typeface="+mn-cs"/>
                        </a:rPr>
                        <a:t>Test Case Design, Black Box Testing Strategies, White Box Testing, Unit Testing, Integration Testing, System Testing. </a:t>
                      </a:r>
                    </a:p>
                    <a:p>
                      <a:r>
                        <a:rPr lang="en-US" sz="1600" b="1" i="0" u="none" strike="noStrike" kern="1200" baseline="0" dirty="0">
                          <a:solidFill>
                            <a:schemeClr val="dk1"/>
                          </a:solidFill>
                          <a:latin typeface="+mn-lt"/>
                          <a:ea typeface="+mn-ea"/>
                          <a:cs typeface="+mn-cs"/>
                        </a:rPr>
                        <a:t>Introduction to Automation Testing and Testing Tools: </a:t>
                      </a:r>
                      <a:r>
                        <a:rPr lang="en-US" sz="1600" b="0" i="0" u="none" strike="noStrike" kern="1200" baseline="0" dirty="0">
                          <a:solidFill>
                            <a:schemeClr val="dk1"/>
                          </a:solidFill>
                          <a:latin typeface="+mn-lt"/>
                          <a:ea typeface="+mn-ea"/>
                          <a:cs typeface="+mn-cs"/>
                        </a:rPr>
                        <a:t>Automated Testing </a:t>
                      </a:r>
                    </a:p>
                    <a:p>
                      <a:r>
                        <a:rPr lang="en-US" sz="1600" b="0" i="0" u="none" strike="noStrike" kern="1200" baseline="0" dirty="0">
                          <a:solidFill>
                            <a:schemeClr val="dk1"/>
                          </a:solidFill>
                          <a:latin typeface="+mn-lt"/>
                          <a:ea typeface="+mn-ea"/>
                          <a:cs typeface="+mn-cs"/>
                        </a:rPr>
                        <a:t>Process, Framework for Automation Testing, Introduction to Automation Testing Tool. </a:t>
                      </a:r>
                    </a:p>
                    <a:p>
                      <a:r>
                        <a:rPr lang="en-IN" sz="1600" b="1" i="0" u="none" strike="noStrike" kern="1200" baseline="0" dirty="0">
                          <a:solidFill>
                            <a:schemeClr val="dk1"/>
                          </a:solidFill>
                          <a:latin typeface="+mn-lt"/>
                          <a:ea typeface="+mn-ea"/>
                          <a:cs typeface="+mn-cs"/>
                        </a:rPr>
                        <a:t>Software Maintenance: </a:t>
                      </a:r>
                      <a:r>
                        <a:rPr lang="en-IN" sz="1600" b="0" i="0" u="none" strike="noStrike" kern="1200" baseline="0" dirty="0">
                          <a:solidFill>
                            <a:schemeClr val="dk1"/>
                          </a:solidFill>
                          <a:latin typeface="+mn-lt"/>
                          <a:ea typeface="+mn-ea"/>
                          <a:cs typeface="+mn-cs"/>
                        </a:rPr>
                        <a:t>Maintenance Process </a:t>
                      </a:r>
                    </a:p>
                    <a:p>
                      <a:r>
                        <a:rPr lang="en-US" sz="1600" b="1" i="0" u="none" strike="noStrike" kern="1200" baseline="0" dirty="0">
                          <a:solidFill>
                            <a:schemeClr val="dk1"/>
                          </a:solidFill>
                          <a:latin typeface="+mn-lt"/>
                          <a:ea typeface="+mn-ea"/>
                          <a:cs typeface="+mn-cs"/>
                        </a:rPr>
                        <a:t>Maintenance models</a:t>
                      </a:r>
                      <a:r>
                        <a:rPr lang="en-US" sz="1600" b="0" i="0" u="none" strike="noStrike" kern="1200" baseline="0" dirty="0">
                          <a:solidFill>
                            <a:schemeClr val="dk1"/>
                          </a:solidFill>
                          <a:latin typeface="+mn-lt"/>
                          <a:ea typeface="+mn-ea"/>
                          <a:cs typeface="+mn-cs"/>
                        </a:rPr>
                        <a:t>: </a:t>
                      </a:r>
                      <a:r>
                        <a:rPr lang="en-US" sz="1600" b="0" i="0" u="none" strike="noStrike" kern="1200" baseline="0" dirty="0" err="1">
                          <a:solidFill>
                            <a:schemeClr val="dk1"/>
                          </a:solidFill>
                          <a:latin typeface="+mn-lt"/>
                          <a:ea typeface="+mn-ea"/>
                          <a:cs typeface="+mn-cs"/>
                        </a:rPr>
                        <a:t>Belady</a:t>
                      </a:r>
                      <a:r>
                        <a:rPr lang="en-US" sz="1600" b="0" i="0" u="none" strike="noStrike" kern="1200" baseline="0" dirty="0">
                          <a:solidFill>
                            <a:schemeClr val="dk1"/>
                          </a:solidFill>
                          <a:latin typeface="+mn-lt"/>
                          <a:ea typeface="+mn-ea"/>
                          <a:cs typeface="+mn-cs"/>
                        </a:rPr>
                        <a:t> and Lehman Model, Boehm Model </a:t>
                      </a:r>
                    </a:p>
                    <a:p>
                      <a:r>
                        <a:rPr lang="en-US" sz="1600" b="0" i="0" u="none" strike="noStrike" kern="1200" baseline="0" dirty="0">
                          <a:solidFill>
                            <a:schemeClr val="dk1"/>
                          </a:solidFill>
                          <a:latin typeface="+mn-lt"/>
                          <a:ea typeface="+mn-ea"/>
                          <a:cs typeface="+mn-cs"/>
                        </a:rPr>
                        <a:t>Regression Testing, Software Configuration Management; Implementation, Introduction to Reengineering and Reverse Engineering. </a:t>
                      </a:r>
                    </a:p>
                    <a:p>
                      <a:r>
                        <a:rPr lang="en-US" sz="1600" b="1" i="0" u="none" strike="noStrike" kern="1200" baseline="0" dirty="0">
                          <a:solidFill>
                            <a:schemeClr val="dk1"/>
                          </a:solidFill>
                          <a:latin typeface="+mn-lt"/>
                          <a:ea typeface="+mn-ea"/>
                          <a:cs typeface="+mn-cs"/>
                        </a:rPr>
                        <a:t>Software Risk Management: </a:t>
                      </a:r>
                      <a:r>
                        <a:rPr lang="en-US" sz="1600" b="0" i="0" u="none" strike="noStrike" kern="1200" baseline="0" dirty="0">
                          <a:solidFill>
                            <a:schemeClr val="dk1"/>
                          </a:solidFill>
                          <a:latin typeface="+mn-lt"/>
                          <a:ea typeface="+mn-ea"/>
                          <a:cs typeface="+mn-cs"/>
                        </a:rPr>
                        <a:t>Risk Identification and Risk Analysis 	</a:t>
                      </a:r>
                    </a:p>
                  </a:txBody>
                  <a:tcPr marL="60960" marR="60960" marT="30480" marB="30480"/>
                </a:tc>
                <a:tc>
                  <a:txBody>
                    <a:bodyPr/>
                    <a:lstStyle/>
                    <a:p>
                      <a:pPr algn="ctr"/>
                      <a:r>
                        <a:rPr lang="en-IN" sz="1600" dirty="0"/>
                        <a:t>20</a:t>
                      </a:r>
                    </a:p>
                  </a:txBody>
                  <a:tcPr marL="60960" marR="60960" marT="30480" marB="30480"/>
                </a:tc>
                <a:extLst>
                  <a:ext uri="{0D108BD9-81ED-4DB2-BD59-A6C34878D82A}">
                    <a16:rowId xmlns:a16="http://schemas.microsoft.com/office/drawing/2014/main" val="1079122950"/>
                  </a:ext>
                </a:extLst>
              </a:tr>
            </a:tbl>
          </a:graphicData>
        </a:graphic>
      </p:graphicFrame>
    </p:spTree>
    <p:extLst>
      <p:ext uri="{BB962C8B-B14F-4D97-AF65-F5344CB8AC3E}">
        <p14:creationId xmlns:p14="http://schemas.microsoft.com/office/powerpoint/2010/main" val="2236213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1083" y="802298"/>
            <a:ext cx="8773769" cy="2541431"/>
          </a:xfrm>
        </p:spPr>
        <p:txBody>
          <a:bodyPr>
            <a:normAutofit/>
          </a:bodyPr>
          <a:lstStyle/>
          <a:p>
            <a:r>
              <a:rPr lang="en-US" sz="5400" dirty="0">
                <a:latin typeface="Times New Roman" panose="02020603050405020304" pitchFamily="18" charset="0"/>
                <a:cs typeface="Times New Roman" panose="02020603050405020304" pitchFamily="18" charset="0"/>
              </a:rPr>
              <a:t>Software reliability and quality </a:t>
            </a:r>
            <a:endParaRPr lang="en-IN" sz="5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4362" y="436656"/>
            <a:ext cx="9603275" cy="1049235"/>
          </a:xfrm>
        </p:spPr>
        <p:txBody>
          <a:bodyPr/>
          <a:lstStyle/>
          <a:p>
            <a:pPr algn="ctr"/>
            <a:r>
              <a:rPr lang="en-US" dirty="0">
                <a:latin typeface="Times New Roman" panose="02020603050405020304" pitchFamily="18" charset="0"/>
                <a:cs typeface="Times New Roman" panose="02020603050405020304" pitchFamily="18" charset="0"/>
              </a:rPr>
              <a:t>What is reliability in terms of software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30559" y="1921139"/>
            <a:ext cx="9603275" cy="3958551"/>
          </a:xfrm>
        </p:spPr>
        <p:txBody>
          <a:bodyPr>
            <a:normAutofit/>
          </a:bodyPr>
          <a:lstStyle/>
          <a:p>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Reliability in software is software that has no failure and works in a special time period with a special environment. </a:t>
            </a:r>
          </a:p>
          <a:p>
            <a:pPr marL="0" indent="0">
              <a:buNone/>
            </a:pPr>
            <a:endPar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Hardware reliability is the probability of the absence of any hardware-related system malfunction for a given mission on the other hand software reliability is the probability that the software will provide a failure-free operation in a fixed environment for a fixed interval of time.</a:t>
            </a:r>
            <a:endParaRPr lang="en-IN" sz="2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662153"/>
            <a:ext cx="9603275" cy="1019502"/>
          </a:xfrm>
        </p:spPr>
        <p:txBody>
          <a:bodyPr>
            <a:normAutofit fontScale="90000"/>
          </a:bodyPr>
          <a:lstStyle/>
          <a:p>
            <a:pPr algn="ctr"/>
            <a:r>
              <a:rPr lang="en-IN" sz="4000" spc="-5" dirty="0">
                <a:solidFill>
                  <a:schemeClr val="tx1">
                    <a:lumMod val="95000"/>
                    <a:lumOff val="5000"/>
                  </a:schemeClr>
                </a:solidFill>
                <a:latin typeface="Times New Roman" panose="02020603050405020304" pitchFamily="18" charset="0"/>
                <a:cs typeface="Times New Roman" panose="02020603050405020304" pitchFamily="18" charset="0"/>
              </a:rPr>
              <a:t>Failures </a:t>
            </a:r>
            <a:r>
              <a:rPr lang="en-IN" sz="4000" dirty="0">
                <a:solidFill>
                  <a:schemeClr val="tx1">
                    <a:lumMod val="95000"/>
                    <a:lumOff val="5000"/>
                  </a:schemeClr>
                </a:solidFill>
                <a:latin typeface="Times New Roman" panose="02020603050405020304" pitchFamily="18" charset="0"/>
                <a:cs typeface="Times New Roman" panose="02020603050405020304" pitchFamily="18" charset="0"/>
              </a:rPr>
              <a:t>and</a:t>
            </a:r>
            <a:r>
              <a:rPr lang="en-IN" sz="4000" spc="5"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4000" spc="-5" dirty="0">
                <a:solidFill>
                  <a:schemeClr val="tx1">
                    <a:lumMod val="95000"/>
                    <a:lumOff val="5000"/>
                  </a:schemeClr>
                </a:solidFill>
                <a:latin typeface="Times New Roman" panose="02020603050405020304" pitchFamily="18" charset="0"/>
                <a:cs typeface="Times New Roman" panose="02020603050405020304" pitchFamily="18" charset="0"/>
              </a:rPr>
              <a:t>Faults</a:t>
            </a:r>
            <a:br>
              <a:rPr lang="en-IN" sz="3200" dirty="0">
                <a:latin typeface="Arial" panose="020B0604020202020204"/>
                <a:cs typeface="Arial" panose="020B0604020202020204"/>
              </a:rPr>
            </a:br>
            <a:endParaRPr lang="en-IN" dirty="0"/>
          </a:p>
        </p:txBody>
      </p:sp>
      <p:sp>
        <p:nvSpPr>
          <p:cNvPr id="3" name="Content Placeholder 2"/>
          <p:cNvSpPr>
            <a:spLocks noGrp="1"/>
          </p:cNvSpPr>
          <p:nvPr>
            <p:ph idx="1"/>
          </p:nvPr>
        </p:nvSpPr>
        <p:spPr>
          <a:xfrm>
            <a:off x="1451579" y="2060028"/>
            <a:ext cx="9603275" cy="3898320"/>
          </a:xfrm>
        </p:spPr>
        <p:txBody>
          <a:bodyPr>
            <a:normAutofit/>
          </a:bodyPr>
          <a:lstStyle/>
          <a:p>
            <a:pPr marL="12700" marR="129540" algn="just">
              <a:lnSpc>
                <a:spcPct val="100000"/>
              </a:lnSpc>
            </a:pPr>
            <a:r>
              <a:rPr lang="en-US" sz="2800" spc="-5" dirty="0">
                <a:solidFill>
                  <a:schemeClr val="tx1">
                    <a:lumMod val="95000"/>
                    <a:lumOff val="5000"/>
                  </a:schemeClr>
                </a:solidFill>
                <a:latin typeface="Times New Roman" panose="02020603050405020304" pitchFamily="18" charset="0"/>
                <a:cs typeface="Times New Roman" panose="02020603050405020304" pitchFamily="18" charset="0"/>
              </a:rPr>
              <a:t>A fault is </a:t>
            </a:r>
            <a:r>
              <a:rPr lang="en-US" sz="2800" spc="-10" dirty="0">
                <a:solidFill>
                  <a:schemeClr val="tx1">
                    <a:lumMod val="95000"/>
                    <a:lumOff val="5000"/>
                  </a:schemeClr>
                </a:solidFill>
                <a:latin typeface="Times New Roman" panose="02020603050405020304" pitchFamily="18" charset="0"/>
                <a:cs typeface="Times New Roman" panose="02020603050405020304" pitchFamily="18" charset="0"/>
              </a:rPr>
              <a:t>the </a:t>
            </a:r>
            <a:r>
              <a:rPr lang="en-US" sz="2800" spc="-5" dirty="0">
                <a:solidFill>
                  <a:schemeClr val="tx1">
                    <a:lumMod val="95000"/>
                    <a:lumOff val="5000"/>
                  </a:schemeClr>
                </a:solidFill>
                <a:latin typeface="Times New Roman" panose="02020603050405020304" pitchFamily="18" charset="0"/>
                <a:cs typeface="Times New Roman" panose="02020603050405020304" pitchFamily="18" charset="0"/>
              </a:rPr>
              <a:t>defect in the </a:t>
            </a: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program that, </a:t>
            </a:r>
            <a:r>
              <a:rPr lang="en-US" sz="2800" spc="-5" dirty="0">
                <a:solidFill>
                  <a:schemeClr val="tx1">
                    <a:lumMod val="95000"/>
                    <a:lumOff val="5000"/>
                  </a:schemeClr>
                </a:solidFill>
                <a:latin typeface="Times New Roman" panose="02020603050405020304" pitchFamily="18" charset="0"/>
                <a:cs typeface="Times New Roman" panose="02020603050405020304" pitchFamily="18" charset="0"/>
              </a:rPr>
              <a:t>when executed under  particular conditions, causes a</a:t>
            </a:r>
            <a:r>
              <a:rPr lang="en-US" sz="2800" spc="2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800" spc="-5" dirty="0">
                <a:solidFill>
                  <a:schemeClr val="tx1">
                    <a:lumMod val="95000"/>
                    <a:lumOff val="5000"/>
                  </a:schemeClr>
                </a:solidFill>
                <a:latin typeface="Times New Roman" panose="02020603050405020304" pitchFamily="18" charset="0"/>
                <a:cs typeface="Times New Roman" panose="02020603050405020304" pitchFamily="18" charset="0"/>
              </a:rPr>
              <a:t>failure.</a:t>
            </a:r>
          </a:p>
          <a:p>
            <a:pPr marL="0" marR="129540" indent="0" algn="just">
              <a:lnSpc>
                <a:spcPct val="100000"/>
              </a:lnSpc>
              <a:buNone/>
            </a:pPr>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88265" marR="5080" algn="just">
              <a:lnSpc>
                <a:spcPct val="100000"/>
              </a:lnSpc>
            </a:pPr>
            <a:r>
              <a:rPr lang="en-US" sz="2800" spc="-5" dirty="0">
                <a:solidFill>
                  <a:schemeClr val="tx1">
                    <a:lumMod val="95000"/>
                    <a:lumOff val="5000"/>
                  </a:schemeClr>
                </a:solidFill>
                <a:latin typeface="Times New Roman" panose="02020603050405020304" pitchFamily="18" charset="0"/>
                <a:cs typeface="Times New Roman" panose="02020603050405020304" pitchFamily="18" charset="0"/>
              </a:rPr>
              <a:t>The execution time </a:t>
            </a: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for </a:t>
            </a:r>
            <a:r>
              <a:rPr lang="en-US" sz="2800" spc="-5" dirty="0">
                <a:solidFill>
                  <a:schemeClr val="tx1">
                    <a:lumMod val="95000"/>
                    <a:lumOff val="5000"/>
                  </a:schemeClr>
                </a:solidFill>
                <a:latin typeface="Times New Roman" panose="02020603050405020304" pitchFamily="18" charset="0"/>
                <a:cs typeface="Times New Roman" panose="02020603050405020304" pitchFamily="18" charset="0"/>
              </a:rPr>
              <a:t>a program is the time </a:t>
            </a: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that </a:t>
            </a:r>
            <a:r>
              <a:rPr lang="en-US" sz="2800" spc="-5" dirty="0">
                <a:solidFill>
                  <a:schemeClr val="tx1">
                    <a:lumMod val="95000"/>
                    <a:lumOff val="5000"/>
                  </a:schemeClr>
                </a:solidFill>
                <a:latin typeface="Times New Roman" panose="02020603050405020304" pitchFamily="18" charset="0"/>
                <a:cs typeface="Times New Roman" panose="02020603050405020304" pitchFamily="18" charset="0"/>
              </a:rPr>
              <a:t>is actually spent </a:t>
            </a:r>
            <a:r>
              <a:rPr lang="en-US" sz="2800" spc="5" dirty="0">
                <a:solidFill>
                  <a:schemeClr val="tx1">
                    <a:lumMod val="95000"/>
                    <a:lumOff val="5000"/>
                  </a:schemeClr>
                </a:solidFill>
                <a:latin typeface="Times New Roman" panose="02020603050405020304" pitchFamily="18" charset="0"/>
                <a:cs typeface="Times New Roman" panose="02020603050405020304" pitchFamily="18" charset="0"/>
              </a:rPr>
              <a:t>by  </a:t>
            </a:r>
            <a:r>
              <a:rPr lang="en-US" sz="2800" spc="-5" dirty="0">
                <a:solidFill>
                  <a:schemeClr val="tx1">
                    <a:lumMod val="95000"/>
                    <a:lumOff val="5000"/>
                  </a:schemeClr>
                </a:solidFill>
                <a:latin typeface="Times New Roman" panose="02020603050405020304" pitchFamily="18" charset="0"/>
                <a:cs typeface="Times New Roman" panose="02020603050405020304" pitchFamily="18" charset="0"/>
              </a:rPr>
              <a:t>a processor in executing the instructions of that program. </a:t>
            </a: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The  </a:t>
            </a:r>
            <a:r>
              <a:rPr lang="en-US" sz="2800" spc="-5" dirty="0">
                <a:solidFill>
                  <a:schemeClr val="tx1">
                    <a:lumMod val="95000"/>
                    <a:lumOff val="5000"/>
                  </a:schemeClr>
                </a:solidFill>
                <a:latin typeface="Times New Roman" panose="02020603050405020304" pitchFamily="18" charset="0"/>
                <a:cs typeface="Times New Roman" panose="02020603050405020304" pitchFamily="18" charset="0"/>
              </a:rPr>
              <a:t>second kind of time is calendar time. It is the familiar time that </a:t>
            </a:r>
            <a:r>
              <a:rPr lang="en-US" sz="2800" spc="-10" dirty="0">
                <a:solidFill>
                  <a:schemeClr val="tx1">
                    <a:lumMod val="95000"/>
                    <a:lumOff val="5000"/>
                  </a:schemeClr>
                </a:solidFill>
                <a:latin typeface="Times New Roman" panose="02020603050405020304" pitchFamily="18" charset="0"/>
                <a:cs typeface="Times New Roman" panose="02020603050405020304" pitchFamily="18" charset="0"/>
              </a:rPr>
              <a:t>we  </a:t>
            </a:r>
            <a:r>
              <a:rPr lang="en-US" sz="2800" spc="-5" dirty="0">
                <a:solidFill>
                  <a:schemeClr val="tx1">
                    <a:lumMod val="95000"/>
                    <a:lumOff val="5000"/>
                  </a:schemeClr>
                </a:solidFill>
                <a:latin typeface="Times New Roman" panose="02020603050405020304" pitchFamily="18" charset="0"/>
                <a:cs typeface="Times New Roman" panose="02020603050405020304" pitchFamily="18" charset="0"/>
              </a:rPr>
              <a:t>normally</a:t>
            </a:r>
            <a:r>
              <a:rPr lang="en-US" sz="2800" spc="-15"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experience.</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573292"/>
            <a:ext cx="9603275" cy="1049235"/>
          </a:xfrm>
        </p:spPr>
        <p:txBody>
          <a:bodyPr/>
          <a:lstStyle/>
          <a:p>
            <a:pPr algn="r"/>
            <a:r>
              <a:rPr lang="en-US" dirty="0" err="1">
                <a:latin typeface="Times New Roman" panose="02020603050405020304" pitchFamily="18" charset="0"/>
                <a:cs typeface="Times New Roman" panose="02020603050405020304" pitchFamily="18" charset="0"/>
              </a:rPr>
              <a:t>Contd</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51579" y="1870841"/>
            <a:ext cx="9603275" cy="4193627"/>
          </a:xfrm>
        </p:spPr>
        <p:txBody>
          <a:bodyPr>
            <a:noAutofit/>
          </a:bodyPr>
          <a:lstStyle/>
          <a:p>
            <a:pPr marL="12700" marR="5080">
              <a:lnSpc>
                <a:spcPct val="100000"/>
              </a:lnSpc>
              <a:spcBef>
                <a:spcPts val="95"/>
              </a:spcBef>
            </a:pPr>
            <a:r>
              <a:rPr lang="en-US" sz="2500" spc="-5" dirty="0">
                <a:solidFill>
                  <a:srgbClr val="003265"/>
                </a:solidFill>
                <a:latin typeface="Times New Roman" panose="02020603050405020304" pitchFamily="18" charset="0"/>
                <a:cs typeface="Times New Roman" panose="02020603050405020304" pitchFamily="18" charset="0"/>
              </a:rPr>
              <a:t>There are </a:t>
            </a:r>
            <a:r>
              <a:rPr lang="en-US" sz="2500" dirty="0">
                <a:solidFill>
                  <a:srgbClr val="003265"/>
                </a:solidFill>
                <a:latin typeface="Times New Roman" panose="02020603050405020304" pitchFamily="18" charset="0"/>
                <a:cs typeface="Times New Roman" panose="02020603050405020304" pitchFamily="18" charset="0"/>
              </a:rPr>
              <a:t>four </a:t>
            </a:r>
            <a:r>
              <a:rPr lang="en-US" sz="2500" spc="-5" dirty="0">
                <a:solidFill>
                  <a:srgbClr val="003265"/>
                </a:solidFill>
                <a:latin typeface="Times New Roman" panose="02020603050405020304" pitchFamily="18" charset="0"/>
                <a:cs typeface="Times New Roman" panose="02020603050405020304" pitchFamily="18" charset="0"/>
              </a:rPr>
              <a:t>general </a:t>
            </a:r>
            <a:r>
              <a:rPr lang="en-US" sz="2500" spc="-10" dirty="0">
                <a:solidFill>
                  <a:srgbClr val="003265"/>
                </a:solidFill>
                <a:latin typeface="Times New Roman" panose="02020603050405020304" pitchFamily="18" charset="0"/>
                <a:cs typeface="Times New Roman" panose="02020603050405020304" pitchFamily="18" charset="0"/>
              </a:rPr>
              <a:t>ways </a:t>
            </a:r>
            <a:r>
              <a:rPr lang="en-US" sz="2500" spc="-5" dirty="0">
                <a:solidFill>
                  <a:srgbClr val="003265"/>
                </a:solidFill>
                <a:latin typeface="Times New Roman" panose="02020603050405020304" pitchFamily="18" charset="0"/>
                <a:cs typeface="Times New Roman" panose="02020603050405020304" pitchFamily="18" charset="0"/>
              </a:rPr>
              <a:t>of </a:t>
            </a:r>
            <a:r>
              <a:rPr lang="en-US" sz="2500" dirty="0">
                <a:solidFill>
                  <a:srgbClr val="003265"/>
                </a:solidFill>
                <a:latin typeface="Times New Roman" panose="02020603050405020304" pitchFamily="18" charset="0"/>
                <a:cs typeface="Times New Roman" panose="02020603050405020304" pitchFamily="18" charset="0"/>
              </a:rPr>
              <a:t>characterizing </a:t>
            </a:r>
            <a:r>
              <a:rPr lang="en-US" sz="2500" spc="-5" dirty="0">
                <a:solidFill>
                  <a:srgbClr val="003265"/>
                </a:solidFill>
                <a:latin typeface="Times New Roman" panose="02020603050405020304" pitchFamily="18" charset="0"/>
                <a:cs typeface="Times New Roman" panose="02020603050405020304" pitchFamily="18" charset="0"/>
              </a:rPr>
              <a:t>failure </a:t>
            </a:r>
            <a:r>
              <a:rPr lang="en-US" sz="2500" dirty="0">
                <a:solidFill>
                  <a:srgbClr val="003265"/>
                </a:solidFill>
                <a:latin typeface="Times New Roman" panose="02020603050405020304" pitchFamily="18" charset="0"/>
                <a:cs typeface="Times New Roman" panose="02020603050405020304" pitchFamily="18" charset="0"/>
              </a:rPr>
              <a:t>occurrences </a:t>
            </a:r>
            <a:r>
              <a:rPr lang="en-US" sz="2500" spc="-5" dirty="0">
                <a:solidFill>
                  <a:srgbClr val="003265"/>
                </a:solidFill>
                <a:latin typeface="Times New Roman" panose="02020603050405020304" pitchFamily="18" charset="0"/>
                <a:cs typeface="Times New Roman" panose="02020603050405020304" pitchFamily="18" charset="0"/>
              </a:rPr>
              <a:t>in  time:</a:t>
            </a:r>
            <a:endParaRPr lang="en-US" sz="2500" dirty="0">
              <a:latin typeface="Times New Roman" panose="02020603050405020304" pitchFamily="18" charset="0"/>
              <a:cs typeface="Times New Roman" panose="02020603050405020304" pitchFamily="18" charset="0"/>
            </a:endParaRPr>
          </a:p>
          <a:p>
            <a:pPr marL="927100" indent="-457835">
              <a:lnSpc>
                <a:spcPct val="100000"/>
              </a:lnSpc>
              <a:buAutoNum type="arabicPeriod"/>
              <a:tabLst>
                <a:tab pos="926465" algn="l"/>
                <a:tab pos="927100" algn="l"/>
              </a:tabLst>
            </a:pPr>
            <a:r>
              <a:rPr lang="en-US" sz="2500" spc="-5" dirty="0">
                <a:solidFill>
                  <a:srgbClr val="492611"/>
                </a:solidFill>
                <a:latin typeface="Times New Roman" panose="02020603050405020304" pitchFamily="18" charset="0"/>
                <a:cs typeface="Times New Roman" panose="02020603050405020304" pitchFamily="18" charset="0"/>
              </a:rPr>
              <a:t>time of</a:t>
            </a:r>
            <a:r>
              <a:rPr lang="en-US" sz="2500" dirty="0">
                <a:solidFill>
                  <a:srgbClr val="492611"/>
                </a:solidFill>
                <a:latin typeface="Times New Roman" panose="02020603050405020304" pitchFamily="18" charset="0"/>
                <a:cs typeface="Times New Roman" panose="02020603050405020304" pitchFamily="18" charset="0"/>
              </a:rPr>
              <a:t> </a:t>
            </a:r>
            <a:r>
              <a:rPr lang="en-US" sz="2500" spc="-5" dirty="0">
                <a:solidFill>
                  <a:srgbClr val="492611"/>
                </a:solidFill>
                <a:latin typeface="Times New Roman" panose="02020603050405020304" pitchFamily="18" charset="0"/>
                <a:cs typeface="Times New Roman" panose="02020603050405020304" pitchFamily="18" charset="0"/>
              </a:rPr>
              <a:t>failure,</a:t>
            </a:r>
            <a:endParaRPr lang="en-US" sz="2500" dirty="0">
              <a:latin typeface="Times New Roman" panose="02020603050405020304" pitchFamily="18" charset="0"/>
              <a:cs typeface="Times New Roman" panose="02020603050405020304" pitchFamily="18" charset="0"/>
            </a:endParaRPr>
          </a:p>
          <a:p>
            <a:pPr>
              <a:lnSpc>
                <a:spcPct val="100000"/>
              </a:lnSpc>
              <a:spcBef>
                <a:spcPts val="25"/>
              </a:spcBef>
              <a:buAutoNum type="arabicPeriod"/>
            </a:pPr>
            <a:endParaRPr lang="en-US" sz="2500" dirty="0">
              <a:latin typeface="Times New Roman" panose="02020603050405020304" pitchFamily="18" charset="0"/>
              <a:cs typeface="Times New Roman" panose="02020603050405020304" pitchFamily="18" charset="0"/>
            </a:endParaRPr>
          </a:p>
          <a:p>
            <a:pPr marL="927100" indent="-457835">
              <a:lnSpc>
                <a:spcPct val="100000"/>
              </a:lnSpc>
              <a:buAutoNum type="arabicPeriod"/>
              <a:tabLst>
                <a:tab pos="926465" algn="l"/>
                <a:tab pos="927100" algn="l"/>
              </a:tabLst>
            </a:pPr>
            <a:r>
              <a:rPr lang="en-US" sz="2500" spc="-5" dirty="0">
                <a:solidFill>
                  <a:srgbClr val="0000FF"/>
                </a:solidFill>
                <a:latin typeface="Times New Roman" panose="02020603050405020304" pitchFamily="18" charset="0"/>
                <a:cs typeface="Times New Roman" panose="02020603050405020304" pitchFamily="18" charset="0"/>
              </a:rPr>
              <a:t>time interval between</a:t>
            </a:r>
            <a:r>
              <a:rPr lang="en-US" sz="2500" spc="20" dirty="0">
                <a:solidFill>
                  <a:srgbClr val="0000FF"/>
                </a:solidFill>
                <a:latin typeface="Times New Roman" panose="02020603050405020304" pitchFamily="18" charset="0"/>
                <a:cs typeface="Times New Roman" panose="02020603050405020304" pitchFamily="18" charset="0"/>
              </a:rPr>
              <a:t> </a:t>
            </a:r>
            <a:r>
              <a:rPr lang="en-US" sz="2500" dirty="0">
                <a:solidFill>
                  <a:srgbClr val="0000FF"/>
                </a:solidFill>
                <a:latin typeface="Times New Roman" panose="02020603050405020304" pitchFamily="18" charset="0"/>
                <a:cs typeface="Times New Roman" panose="02020603050405020304" pitchFamily="18" charset="0"/>
              </a:rPr>
              <a:t>failures,</a:t>
            </a:r>
            <a:endParaRPr lang="en-US" sz="2500" dirty="0">
              <a:latin typeface="Times New Roman" panose="02020603050405020304" pitchFamily="18" charset="0"/>
              <a:cs typeface="Times New Roman" panose="02020603050405020304" pitchFamily="18" charset="0"/>
            </a:endParaRPr>
          </a:p>
          <a:p>
            <a:pPr>
              <a:lnSpc>
                <a:spcPct val="100000"/>
              </a:lnSpc>
              <a:spcBef>
                <a:spcPts val="40"/>
              </a:spcBef>
              <a:buAutoNum type="arabicPeriod"/>
            </a:pPr>
            <a:endParaRPr lang="en-US" sz="2500" dirty="0">
              <a:latin typeface="Times New Roman" panose="02020603050405020304" pitchFamily="18" charset="0"/>
              <a:cs typeface="Times New Roman" panose="02020603050405020304" pitchFamily="18" charset="0"/>
            </a:endParaRPr>
          </a:p>
          <a:p>
            <a:pPr marL="927100" indent="-457835">
              <a:lnSpc>
                <a:spcPct val="100000"/>
              </a:lnSpc>
              <a:buAutoNum type="arabicPeriod"/>
              <a:tabLst>
                <a:tab pos="926465" algn="l"/>
                <a:tab pos="927100" algn="l"/>
              </a:tabLst>
            </a:pPr>
            <a:r>
              <a:rPr lang="en-US" sz="2500" spc="-5" dirty="0">
                <a:solidFill>
                  <a:srgbClr val="006500"/>
                </a:solidFill>
                <a:latin typeface="Times New Roman" panose="02020603050405020304" pitchFamily="18" charset="0"/>
                <a:cs typeface="Times New Roman" panose="02020603050405020304" pitchFamily="18" charset="0"/>
              </a:rPr>
              <a:t>cumulative failure experienced up to a given</a:t>
            </a:r>
            <a:r>
              <a:rPr lang="en-US" sz="2500" spc="30" dirty="0">
                <a:solidFill>
                  <a:srgbClr val="006500"/>
                </a:solidFill>
                <a:latin typeface="Times New Roman" panose="02020603050405020304" pitchFamily="18" charset="0"/>
                <a:cs typeface="Times New Roman" panose="02020603050405020304" pitchFamily="18" charset="0"/>
              </a:rPr>
              <a:t> </a:t>
            </a:r>
            <a:r>
              <a:rPr lang="en-US" sz="2500" dirty="0">
                <a:solidFill>
                  <a:srgbClr val="006500"/>
                </a:solidFill>
                <a:latin typeface="Times New Roman" panose="02020603050405020304" pitchFamily="18" charset="0"/>
                <a:cs typeface="Times New Roman" panose="02020603050405020304" pitchFamily="18" charset="0"/>
              </a:rPr>
              <a:t>time,</a:t>
            </a:r>
            <a:endParaRPr lang="en-US" sz="2500" dirty="0">
              <a:latin typeface="Times New Roman" panose="02020603050405020304" pitchFamily="18" charset="0"/>
              <a:cs typeface="Times New Roman" panose="02020603050405020304" pitchFamily="18" charset="0"/>
            </a:endParaRPr>
          </a:p>
          <a:p>
            <a:pPr>
              <a:lnSpc>
                <a:spcPct val="100000"/>
              </a:lnSpc>
              <a:spcBef>
                <a:spcPts val="25"/>
              </a:spcBef>
              <a:buAutoNum type="arabicPeriod"/>
            </a:pPr>
            <a:endParaRPr lang="en-US" sz="2500" dirty="0">
              <a:latin typeface="Times New Roman" panose="02020603050405020304" pitchFamily="18" charset="0"/>
              <a:cs typeface="Times New Roman" panose="02020603050405020304" pitchFamily="18" charset="0"/>
            </a:endParaRPr>
          </a:p>
          <a:p>
            <a:pPr marL="927100" indent="-457835">
              <a:lnSpc>
                <a:spcPct val="100000"/>
              </a:lnSpc>
              <a:buAutoNum type="arabicPeriod"/>
              <a:tabLst>
                <a:tab pos="926465" algn="l"/>
                <a:tab pos="927100" algn="l"/>
              </a:tabLst>
            </a:pPr>
            <a:r>
              <a:rPr lang="en-US" sz="2500" spc="-5" dirty="0">
                <a:solidFill>
                  <a:srgbClr val="965025"/>
                </a:solidFill>
                <a:latin typeface="Times New Roman" panose="02020603050405020304" pitchFamily="18" charset="0"/>
                <a:cs typeface="Times New Roman" panose="02020603050405020304" pitchFamily="18" charset="0"/>
              </a:rPr>
              <a:t>failures experienced in a time</a:t>
            </a:r>
            <a:r>
              <a:rPr lang="en-US" sz="2500" spc="20" dirty="0">
                <a:solidFill>
                  <a:srgbClr val="965025"/>
                </a:solidFill>
                <a:latin typeface="Times New Roman" panose="02020603050405020304" pitchFamily="18" charset="0"/>
                <a:cs typeface="Times New Roman" panose="02020603050405020304" pitchFamily="18" charset="0"/>
              </a:rPr>
              <a:t> </a:t>
            </a:r>
            <a:r>
              <a:rPr lang="en-US" sz="2500" dirty="0">
                <a:solidFill>
                  <a:srgbClr val="965025"/>
                </a:solidFill>
                <a:latin typeface="Times New Roman" panose="02020603050405020304" pitchFamily="18" charset="0"/>
                <a:cs typeface="Times New Roman" panose="02020603050405020304" pitchFamily="18" charset="0"/>
              </a:rPr>
              <a:t>interval.</a:t>
            </a:r>
            <a:endParaRPr lang="en-US"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p:cNvSpPr/>
          <p:nvPr/>
        </p:nvSpPr>
        <p:spPr>
          <a:xfrm>
            <a:off x="3566812" y="1082566"/>
            <a:ext cx="4785108" cy="3626071"/>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object 5"/>
          <p:cNvSpPr txBox="1"/>
          <p:nvPr/>
        </p:nvSpPr>
        <p:spPr>
          <a:xfrm>
            <a:off x="722312" y="311544"/>
            <a:ext cx="6267067" cy="443711"/>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69900" indent="-457200">
              <a:lnSpc>
                <a:spcPct val="100000"/>
              </a:lnSpc>
              <a:spcBef>
                <a:spcPts val="100"/>
              </a:spcBef>
              <a:buFont typeface="AoyagiKouzanFontT"/>
              <a:buChar char="▪"/>
              <a:tabLst>
                <a:tab pos="469265" algn="l"/>
                <a:tab pos="469900" algn="l"/>
              </a:tabLst>
            </a:pPr>
            <a:r>
              <a:rPr sz="2800" spc="-5" dirty="0">
                <a:solidFill>
                  <a:srgbClr val="FF0000"/>
                </a:solidFill>
                <a:latin typeface="Times New Roman" panose="02020603050405020304" pitchFamily="18" charset="0"/>
                <a:cs typeface="Times New Roman" panose="02020603050405020304" pitchFamily="18" charset="0"/>
              </a:rPr>
              <a:t>McCall Software Quality</a:t>
            </a:r>
            <a:r>
              <a:rPr sz="2800" spc="-10" dirty="0">
                <a:solidFill>
                  <a:srgbClr val="FF0000"/>
                </a:solidFill>
                <a:latin typeface="Times New Roman" panose="02020603050405020304" pitchFamily="18" charset="0"/>
                <a:cs typeface="Times New Roman" panose="02020603050405020304" pitchFamily="18" charset="0"/>
              </a:rPr>
              <a:t> </a:t>
            </a:r>
            <a:r>
              <a:rPr sz="2800" spc="-5" dirty="0">
                <a:solidFill>
                  <a:srgbClr val="FF0000"/>
                </a:solidFill>
                <a:latin typeface="Times New Roman" panose="02020603050405020304" pitchFamily="18" charset="0"/>
                <a:cs typeface="Times New Roman" panose="02020603050405020304" pitchFamily="18" charset="0"/>
              </a:rPr>
              <a:t>Model</a:t>
            </a:r>
            <a:endParaRPr sz="28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3556357" y="5171002"/>
            <a:ext cx="4683753" cy="443711"/>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2800" b="1" dirty="0">
                <a:solidFill>
                  <a:srgbClr val="003265"/>
                </a:solidFill>
                <a:latin typeface="Times New Roman" panose="02020603050405020304" pitchFamily="18" charset="0"/>
                <a:cs typeface="Times New Roman" panose="02020603050405020304" pitchFamily="18" charset="0"/>
              </a:rPr>
              <a:t>Fig</a:t>
            </a:r>
            <a:r>
              <a:rPr lang="en-US" sz="2800" b="1" dirty="0">
                <a:solidFill>
                  <a:srgbClr val="003265"/>
                </a:solidFill>
                <a:latin typeface="Times New Roman" panose="02020603050405020304" pitchFamily="18" charset="0"/>
                <a:cs typeface="Times New Roman" panose="02020603050405020304" pitchFamily="18" charset="0"/>
              </a:rPr>
              <a:t>. : </a:t>
            </a:r>
            <a:r>
              <a:rPr sz="2800" b="1" spc="-5" dirty="0">
                <a:solidFill>
                  <a:srgbClr val="003265"/>
                </a:solidFill>
                <a:latin typeface="Times New Roman" panose="02020603050405020304" pitchFamily="18" charset="0"/>
                <a:cs typeface="Times New Roman" panose="02020603050405020304" pitchFamily="18" charset="0"/>
              </a:rPr>
              <a:t> </a:t>
            </a:r>
            <a:r>
              <a:rPr sz="2800" spc="-5" dirty="0">
                <a:solidFill>
                  <a:srgbClr val="003265"/>
                </a:solidFill>
                <a:latin typeface="Times New Roman" panose="02020603050405020304" pitchFamily="18" charset="0"/>
                <a:cs typeface="Times New Roman" panose="02020603050405020304" pitchFamily="18" charset="0"/>
              </a:rPr>
              <a:t>Software quality</a:t>
            </a:r>
            <a:r>
              <a:rPr sz="2800" spc="-55" dirty="0">
                <a:solidFill>
                  <a:srgbClr val="003265"/>
                </a:solidFill>
                <a:latin typeface="Times New Roman" panose="02020603050405020304" pitchFamily="18" charset="0"/>
                <a:cs typeface="Times New Roman" panose="02020603050405020304" pitchFamily="18" charset="0"/>
              </a:rPr>
              <a:t> </a:t>
            </a:r>
            <a:r>
              <a:rPr sz="2800" dirty="0">
                <a:solidFill>
                  <a:srgbClr val="003265"/>
                </a:solidFill>
                <a:latin typeface="Times New Roman" panose="02020603050405020304" pitchFamily="18" charset="0"/>
                <a:cs typeface="Times New Roman" panose="02020603050405020304" pitchFamily="18" charset="0"/>
              </a:rPr>
              <a:t>factors</a:t>
            </a:r>
            <a:endParaRPr sz="2800" dirty="0">
              <a:latin typeface="Times New Roman" panose="02020603050405020304" pitchFamily="18" charset="0"/>
              <a:cs typeface="Times New Roman" panose="02020603050405020304" pitchFamily="18" charset="0"/>
            </a:endParaRPr>
          </a:p>
        </p:txBody>
      </p:sp>
      <p:cxnSp>
        <p:nvCxnSpPr>
          <p:cNvPr id="6" name="Straight Arrow Connector 5">
            <a:extLst>
              <a:ext uri="{FF2B5EF4-FFF2-40B4-BE49-F238E27FC236}">
                <a16:creationId xmlns:a16="http://schemas.microsoft.com/office/drawing/2014/main" id="{839A229F-D20A-8B0B-494F-5435F8C90D0F}"/>
              </a:ext>
            </a:extLst>
          </p:cNvPr>
          <p:cNvCxnSpPr/>
          <p:nvPr/>
        </p:nvCxnSpPr>
        <p:spPr>
          <a:xfrm>
            <a:off x="6096000" y="3429000"/>
            <a:ext cx="2941503" cy="727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C84F2CD-6EF7-3A81-87D2-E63C9C668273}"/>
              </a:ext>
            </a:extLst>
          </p:cNvPr>
          <p:cNvSpPr txBox="1"/>
          <p:nvPr/>
        </p:nvSpPr>
        <p:spPr>
          <a:xfrm>
            <a:off x="9037503" y="3941121"/>
            <a:ext cx="2335576"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How the software works in use</a:t>
            </a:r>
            <a:endParaRPr lang="en-IN" dirty="0"/>
          </a:p>
        </p:txBody>
      </p:sp>
      <p:cxnSp>
        <p:nvCxnSpPr>
          <p:cNvPr id="10" name="Straight Arrow Connector 9">
            <a:extLst>
              <a:ext uri="{FF2B5EF4-FFF2-40B4-BE49-F238E27FC236}">
                <a16:creationId xmlns:a16="http://schemas.microsoft.com/office/drawing/2014/main" id="{2FD5AA9A-6E6E-1BAD-9F08-FD72785C0F09}"/>
              </a:ext>
            </a:extLst>
          </p:cNvPr>
          <p:cNvCxnSpPr/>
          <p:nvPr/>
        </p:nvCxnSpPr>
        <p:spPr>
          <a:xfrm flipV="1">
            <a:off x="6797407" y="1839817"/>
            <a:ext cx="1751682" cy="1055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D046F2B-9144-70CF-42E5-C327CE1BD6D7}"/>
              </a:ext>
            </a:extLst>
          </p:cNvPr>
          <p:cNvSpPr txBox="1"/>
          <p:nvPr/>
        </p:nvSpPr>
        <p:spPr>
          <a:xfrm>
            <a:off x="8549089" y="1516651"/>
            <a:ext cx="2941503"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How the software can be changed or improved</a:t>
            </a:r>
            <a:endParaRPr lang="en-IN" dirty="0"/>
          </a:p>
        </p:txBody>
      </p:sp>
      <p:cxnSp>
        <p:nvCxnSpPr>
          <p:cNvPr id="15" name="Straight Arrow Connector 14">
            <a:extLst>
              <a:ext uri="{FF2B5EF4-FFF2-40B4-BE49-F238E27FC236}">
                <a16:creationId xmlns:a16="http://schemas.microsoft.com/office/drawing/2014/main" id="{C6DCA463-F273-E850-0E82-0E2AFD523C41}"/>
              </a:ext>
            </a:extLst>
          </p:cNvPr>
          <p:cNvCxnSpPr/>
          <p:nvPr/>
        </p:nvCxnSpPr>
        <p:spPr>
          <a:xfrm flipH="1">
            <a:off x="3183875" y="2895601"/>
            <a:ext cx="1564395" cy="100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CF2EC81-B41C-B7AB-4A45-FF15AD1EDD6B}"/>
              </a:ext>
            </a:extLst>
          </p:cNvPr>
          <p:cNvSpPr txBox="1"/>
          <p:nvPr/>
        </p:nvSpPr>
        <p:spPr>
          <a:xfrm>
            <a:off x="625309" y="2721166"/>
            <a:ext cx="2558567"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How the software works in different environments</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7" grpId="0" animBg="1"/>
      <p:bldP spid="11"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56331" y="136635"/>
            <a:ext cx="3268718" cy="892552"/>
          </a:xfrm>
          <a:prstGeom prst="rect">
            <a:avLst/>
          </a:prstGeom>
          <a:noFill/>
        </p:spPr>
        <p:txBody>
          <a:bodyPr wrap="square" rtlCol="0">
            <a:spAutoFit/>
          </a:bodyPr>
          <a:lstStyle/>
          <a:p>
            <a:pPr algn="r"/>
            <a:endParaRPr lang="en-US" sz="2600" dirty="0">
              <a:latin typeface="Times New Roman" panose="02020603050405020304" pitchFamily="18" charset="0"/>
              <a:cs typeface="Times New Roman" panose="02020603050405020304" pitchFamily="18" charset="0"/>
            </a:endParaRPr>
          </a:p>
          <a:p>
            <a:pPr algn="r"/>
            <a:r>
              <a:rPr lang="en-IN" sz="2600" dirty="0">
                <a:latin typeface="Times New Roman" panose="02020603050405020304" pitchFamily="18" charset="0"/>
                <a:cs typeface="Times New Roman" panose="02020603050405020304" pitchFamily="18" charset="0"/>
              </a:rPr>
              <a:t>CONTD…</a:t>
            </a:r>
          </a:p>
        </p:txBody>
      </p:sp>
      <p:cxnSp>
        <p:nvCxnSpPr>
          <p:cNvPr id="3" name="Straight Connector 2"/>
          <p:cNvCxnSpPr/>
          <p:nvPr/>
        </p:nvCxnSpPr>
        <p:spPr>
          <a:xfrm>
            <a:off x="1545021" y="1081740"/>
            <a:ext cx="9299960"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6483EB1-9E6B-2783-3460-18AB764EC356}"/>
              </a:ext>
            </a:extLst>
          </p:cNvPr>
          <p:cNvSpPr txBox="1"/>
          <p:nvPr/>
        </p:nvSpPr>
        <p:spPr>
          <a:xfrm>
            <a:off x="1200839" y="1432193"/>
            <a:ext cx="10708394" cy="4708981"/>
          </a:xfrm>
          <a:prstGeom prst="rect">
            <a:avLst/>
          </a:prstGeom>
          <a:noFill/>
        </p:spPr>
        <p:txBody>
          <a:bodyPr wrap="square" rtlCol="0">
            <a:spAutoFit/>
          </a:bodyPr>
          <a:lstStyle/>
          <a:p>
            <a:pPr marL="342900" indent="-342900" algn="just">
              <a:buAutoNum type="arabicPeriod"/>
            </a:pPr>
            <a:r>
              <a:rPr lang="en-US" sz="2400" b="1" u="sng" dirty="0"/>
              <a:t>Product Operation</a:t>
            </a:r>
            <a:r>
              <a:rPr lang="en-US" sz="2400" u="sng" dirty="0"/>
              <a:t> (How the software works in use):</a:t>
            </a:r>
          </a:p>
          <a:p>
            <a:pPr algn="just"/>
            <a:r>
              <a:rPr lang="en-US" dirty="0"/>
              <a:t>Product Operation includes five software quality factors, which are related to the requirements that directly affect the operation of the software such as operational performance, convenience, ease of usage, and correctness. These factors help in providing a better user experience.</a:t>
            </a:r>
            <a:endParaRPr lang="en-US" sz="2400" u="sng" dirty="0"/>
          </a:p>
          <a:p>
            <a:pPr algn="just"/>
            <a:endParaRPr lang="en-US" sz="2400" dirty="0"/>
          </a:p>
          <a:p>
            <a:pPr algn="just"/>
            <a:endParaRPr lang="en-US" sz="2400" dirty="0"/>
          </a:p>
          <a:p>
            <a:pPr algn="just"/>
            <a:endParaRPr lang="en-IN" sz="2400" dirty="0"/>
          </a:p>
          <a:p>
            <a:pPr>
              <a:buNone/>
            </a:pPr>
            <a:r>
              <a:rPr lang="en-US" sz="2400" b="1" dirty="0"/>
              <a:t>2. </a:t>
            </a:r>
            <a:r>
              <a:rPr lang="en-US" sz="2400" b="1" u="sng" dirty="0"/>
              <a:t>Product Revision</a:t>
            </a:r>
            <a:r>
              <a:rPr lang="en-US" sz="2400" u="sng" dirty="0"/>
              <a:t> (How the software can be changed or improved):</a:t>
            </a:r>
          </a:p>
          <a:p>
            <a:pPr>
              <a:buNone/>
            </a:pPr>
            <a:r>
              <a:rPr lang="en-US" dirty="0"/>
              <a:t>Product Revision includes three software quality factors, which are required for testing and maintenance of the software. They provide ease of maintenance, flexibility, and testing efforts to support the software to be functional according to the needs and requirements of the user in the future.</a:t>
            </a:r>
            <a:endParaRPr lang="en-US" sz="2400" u="sng" dirty="0"/>
          </a:p>
          <a:p>
            <a:pPr>
              <a:buNone/>
            </a:pPr>
            <a:endParaRPr lang="en-US" sz="2400" u="sng" dirty="0"/>
          </a:p>
          <a:p>
            <a:endParaRPr lang="en-US" sz="2400" dirty="0"/>
          </a:p>
          <a:p>
            <a:pPr algn="just"/>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p:cNvSpPr txBox="1"/>
          <p:nvPr/>
        </p:nvSpPr>
        <p:spPr>
          <a:xfrm>
            <a:off x="9957184" y="6469265"/>
            <a:ext cx="274955" cy="203835"/>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65"/>
              </a:lnSpc>
            </a:pPr>
            <a:r>
              <a:rPr sz="1400" dirty="0">
                <a:latin typeface="Arial" panose="020B0604020202020204"/>
                <a:cs typeface="Arial" panose="020B0604020202020204"/>
              </a:rPr>
              <a:t>32</a:t>
            </a:r>
            <a:endParaRPr sz="1400">
              <a:latin typeface="Arial" panose="020B0604020202020204"/>
              <a:cs typeface="Arial" panose="020B0604020202020204"/>
            </a:endParaRPr>
          </a:p>
        </p:txBody>
      </p:sp>
      <p:sp>
        <p:nvSpPr>
          <p:cNvPr id="6" name="TextBox 5"/>
          <p:cNvSpPr txBox="1"/>
          <p:nvPr/>
        </p:nvSpPr>
        <p:spPr>
          <a:xfrm>
            <a:off x="8322825" y="97634"/>
            <a:ext cx="3268718" cy="892552"/>
          </a:xfrm>
          <a:prstGeom prst="rect">
            <a:avLst/>
          </a:prstGeom>
          <a:noFill/>
        </p:spPr>
        <p:txBody>
          <a:bodyPr wrap="square" rtlCol="0">
            <a:spAutoFit/>
          </a:bodyPr>
          <a:lstStyle/>
          <a:p>
            <a:pPr algn="r"/>
            <a:endParaRPr lang="en-US" sz="2600" dirty="0">
              <a:latin typeface="Times New Roman" panose="02020603050405020304" pitchFamily="18" charset="0"/>
              <a:cs typeface="Times New Roman" panose="02020603050405020304" pitchFamily="18" charset="0"/>
            </a:endParaRPr>
          </a:p>
          <a:p>
            <a:pPr algn="r"/>
            <a:r>
              <a:rPr lang="en-IN" sz="2600" dirty="0">
                <a:latin typeface="Times New Roman" panose="02020603050405020304" pitchFamily="18" charset="0"/>
                <a:cs typeface="Times New Roman" panose="02020603050405020304" pitchFamily="18" charset="0"/>
              </a:rPr>
              <a:t>CONTD…</a:t>
            </a:r>
          </a:p>
        </p:txBody>
      </p:sp>
      <p:cxnSp>
        <p:nvCxnSpPr>
          <p:cNvPr id="7" name="Straight Connector 6"/>
          <p:cNvCxnSpPr/>
          <p:nvPr/>
        </p:nvCxnSpPr>
        <p:spPr>
          <a:xfrm>
            <a:off x="1545021" y="1081740"/>
            <a:ext cx="9299960"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8" name="object 3"/>
          <p:cNvSpPr txBox="1"/>
          <p:nvPr/>
        </p:nvSpPr>
        <p:spPr>
          <a:xfrm>
            <a:off x="1196660" y="1473086"/>
            <a:ext cx="9996682" cy="2026196"/>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None/>
            </a:pPr>
            <a:r>
              <a:rPr lang="en-US" sz="2400" b="1" dirty="0"/>
              <a:t>3. </a:t>
            </a:r>
            <a:r>
              <a:rPr lang="en-US" sz="2400" b="1" u="sng" dirty="0"/>
              <a:t>Product Transition</a:t>
            </a:r>
            <a:r>
              <a:rPr lang="en-US" sz="2400" u="sng" dirty="0"/>
              <a:t> (How the software works in different environments):</a:t>
            </a:r>
          </a:p>
          <a:p>
            <a:pPr>
              <a:buNone/>
            </a:pPr>
            <a:r>
              <a:rPr lang="en-US" dirty="0"/>
              <a:t>Product Transition includes three software quality factors, that allow the software to adapt to the change of environments in the new platform or technology from the previous.</a:t>
            </a:r>
            <a:endParaRPr lang="en-US" sz="2400" u="sng" dirty="0"/>
          </a:p>
          <a:p>
            <a:pPr>
              <a:buNone/>
            </a:pPr>
            <a:endParaRPr lang="en-US" sz="2400" u="sng" dirty="0"/>
          </a:p>
          <a:p>
            <a:endParaRPr lang="en-US" sz="2400" dirty="0"/>
          </a:p>
          <a:p>
            <a:pPr marL="27305">
              <a:lnSpc>
                <a:spcPct val="100000"/>
              </a:lnSpc>
              <a:spcBef>
                <a:spcPts val="100"/>
              </a:spcBef>
              <a:tabLst>
                <a:tab pos="484505" algn="l"/>
                <a:tab pos="485140" algn="l"/>
              </a:tabLst>
            </a:pPr>
            <a:endParaRPr lang="en-US" sz="2200" dirty="0">
              <a:latin typeface="Arial" panose="020B0604020202020204"/>
              <a:cs typeface="Arial" panose="020B0604020202020204"/>
            </a:endParaRPr>
          </a:p>
        </p:txBody>
      </p:sp>
      <p:sp>
        <p:nvSpPr>
          <p:cNvPr id="2" name="TextBox 1">
            <a:extLst>
              <a:ext uri="{FF2B5EF4-FFF2-40B4-BE49-F238E27FC236}">
                <a16:creationId xmlns:a16="http://schemas.microsoft.com/office/drawing/2014/main" id="{8EBE15B5-FCC4-93B2-D1BE-9062AFA529D0}"/>
              </a:ext>
            </a:extLst>
          </p:cNvPr>
          <p:cNvSpPr txBox="1"/>
          <p:nvPr/>
        </p:nvSpPr>
        <p:spPr>
          <a:xfrm>
            <a:off x="1196660" y="4627084"/>
            <a:ext cx="9996682"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McCall’s model helps evaluate how well software performs, how easy it is to maintain, and how adaptable it is.</a:t>
            </a:r>
            <a:endParaRPr lang="en-I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p:cNvSpPr txBox="1"/>
          <p:nvPr/>
        </p:nvSpPr>
        <p:spPr>
          <a:xfrm>
            <a:off x="302362" y="332904"/>
            <a:ext cx="4685030" cy="391160"/>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69900" indent="-457200">
              <a:lnSpc>
                <a:spcPct val="100000"/>
              </a:lnSpc>
              <a:spcBef>
                <a:spcPts val="100"/>
              </a:spcBef>
              <a:buFont typeface="AoyagiKouzanFontT"/>
              <a:buChar char="▪"/>
              <a:tabLst>
                <a:tab pos="469265" algn="l"/>
                <a:tab pos="469900" algn="l"/>
              </a:tabLst>
            </a:pPr>
            <a:r>
              <a:rPr sz="2400" spc="-5" dirty="0">
                <a:solidFill>
                  <a:srgbClr val="FF0000"/>
                </a:solidFill>
                <a:latin typeface="Times New Roman" panose="02020603050405020304" pitchFamily="18" charset="0"/>
                <a:cs typeface="Times New Roman" panose="02020603050405020304" pitchFamily="18" charset="0"/>
              </a:rPr>
              <a:t>Boehm Software Quality</a:t>
            </a:r>
            <a:r>
              <a:rPr sz="2400" spc="-25" dirty="0">
                <a:solidFill>
                  <a:srgbClr val="FF0000"/>
                </a:solidFill>
                <a:latin typeface="Times New Roman" panose="02020603050405020304" pitchFamily="18" charset="0"/>
                <a:cs typeface="Times New Roman" panose="02020603050405020304" pitchFamily="18" charset="0"/>
              </a:rPr>
              <a:t> </a:t>
            </a:r>
            <a:r>
              <a:rPr sz="2400" spc="-5" dirty="0">
                <a:solidFill>
                  <a:srgbClr val="FF0000"/>
                </a:solidFill>
                <a:latin typeface="Times New Roman" panose="02020603050405020304" pitchFamily="18" charset="0"/>
                <a:cs typeface="Times New Roman" panose="02020603050405020304" pitchFamily="18" charset="0"/>
              </a:rPr>
              <a:t>Model</a:t>
            </a:r>
            <a:endParaRPr sz="2400" dirty="0">
              <a:latin typeface="Times New Roman" panose="02020603050405020304" pitchFamily="18" charset="0"/>
              <a:cs typeface="Times New Roman" panose="02020603050405020304" pitchFamily="18" charset="0"/>
            </a:endParaRPr>
          </a:p>
        </p:txBody>
      </p:sp>
      <p:sp>
        <p:nvSpPr>
          <p:cNvPr id="3" name="object 3"/>
          <p:cNvSpPr/>
          <p:nvPr/>
        </p:nvSpPr>
        <p:spPr>
          <a:xfrm>
            <a:off x="2087570" y="922286"/>
            <a:ext cx="8016860" cy="4258055"/>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 name="object 5"/>
          <p:cNvSpPr txBox="1"/>
          <p:nvPr/>
        </p:nvSpPr>
        <p:spPr>
          <a:xfrm>
            <a:off x="3720355" y="5378563"/>
            <a:ext cx="4532630" cy="299720"/>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1800" b="1" spc="-5" dirty="0">
                <a:solidFill>
                  <a:srgbClr val="003265"/>
                </a:solidFill>
                <a:latin typeface="Arial" panose="020B0604020202020204"/>
                <a:cs typeface="Arial" panose="020B0604020202020204"/>
              </a:rPr>
              <a:t>Fig.</a:t>
            </a:r>
            <a:r>
              <a:rPr lang="en-US" b="1" spc="-5" dirty="0">
                <a:solidFill>
                  <a:srgbClr val="003265"/>
                </a:solidFill>
                <a:latin typeface="Arial" panose="020B0604020202020204"/>
                <a:cs typeface="Arial" panose="020B0604020202020204"/>
              </a:rPr>
              <a:t> </a:t>
            </a:r>
            <a:r>
              <a:rPr sz="1800" b="1" spc="-5" dirty="0">
                <a:solidFill>
                  <a:srgbClr val="003265"/>
                </a:solidFill>
                <a:latin typeface="Arial" panose="020B0604020202020204"/>
                <a:cs typeface="Arial" panose="020B0604020202020204"/>
              </a:rPr>
              <a:t>: </a:t>
            </a:r>
            <a:r>
              <a:rPr sz="1800" dirty="0">
                <a:solidFill>
                  <a:srgbClr val="003265"/>
                </a:solidFill>
                <a:latin typeface="Arial" panose="020B0604020202020204"/>
                <a:cs typeface="Arial" panose="020B0604020202020204"/>
              </a:rPr>
              <a:t>The </a:t>
            </a:r>
            <a:r>
              <a:rPr sz="1800" spc="-5" dirty="0">
                <a:solidFill>
                  <a:srgbClr val="003265"/>
                </a:solidFill>
                <a:latin typeface="Arial" panose="020B0604020202020204"/>
                <a:cs typeface="Arial" panose="020B0604020202020204"/>
              </a:rPr>
              <a:t>Boehm software quality</a:t>
            </a:r>
            <a:r>
              <a:rPr sz="1800" spc="-15" dirty="0">
                <a:solidFill>
                  <a:srgbClr val="003265"/>
                </a:solidFill>
                <a:latin typeface="Arial" panose="020B0604020202020204"/>
                <a:cs typeface="Arial" panose="020B0604020202020204"/>
              </a:rPr>
              <a:t> </a:t>
            </a:r>
            <a:r>
              <a:rPr sz="1800" spc="-5" dirty="0">
                <a:solidFill>
                  <a:srgbClr val="003265"/>
                </a:solidFill>
                <a:latin typeface="Arial" panose="020B0604020202020204"/>
                <a:cs typeface="Arial" panose="020B0604020202020204"/>
              </a:rPr>
              <a:t>model</a:t>
            </a:r>
            <a:endParaRPr sz="1800" dirty="0">
              <a:latin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79174" y="0"/>
            <a:ext cx="10833652" cy="3785652"/>
          </a:xfrm>
          <a:prstGeom prst="rect">
            <a:avLst/>
          </a:prstGeom>
          <a:noFill/>
        </p:spPr>
        <p:txBody>
          <a:bodyPr wrap="square" rtlCol="0">
            <a:spAutoFit/>
          </a:bodyPr>
          <a:lstStyle/>
          <a:p>
            <a:pPr marL="457200" indent="-45720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In 1978, B.W. Boehm introduced his software quality model. </a:t>
            </a:r>
          </a:p>
          <a:p>
            <a:pPr marL="457200" indent="-45720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The model represents a hierarchical quality model similar to McCall Quality Model to define software quality using a predefined set of attributes</a:t>
            </a:r>
            <a:r>
              <a:rPr lang="en-GB" sz="2400" dirty="0"/>
              <a:t> (performance, reliability, or usability) </a:t>
            </a:r>
            <a:r>
              <a:rPr lang="en-GB" sz="2400" dirty="0">
                <a:latin typeface="Times New Roman" panose="02020603050405020304" pitchFamily="18" charset="0"/>
                <a:cs typeface="Times New Roman" panose="02020603050405020304" pitchFamily="18" charset="0"/>
              </a:rPr>
              <a:t>and metrics</a:t>
            </a:r>
            <a:endParaRPr lang="en-US" sz="2400" b="0" i="0" dirty="0">
              <a:solidFill>
                <a:srgbClr val="0D0D0D"/>
              </a:solidFill>
              <a:effectLst/>
              <a:latin typeface="Söhne"/>
            </a:endParaRPr>
          </a:p>
          <a:p>
            <a:pPr marL="342900" indent="-342900" fontAlgn="base">
              <a:buFont typeface="Arial" panose="020B0604020202020204" pitchFamily="34" charset="0"/>
              <a:buChar char="•"/>
            </a:pPr>
            <a:r>
              <a:rPr lang="en-US" sz="2400" b="0" i="0" dirty="0">
                <a:solidFill>
                  <a:srgbClr val="0D0D0D"/>
                </a:solidFill>
                <a:effectLst/>
                <a:latin typeface="Söhne"/>
              </a:rPr>
              <a:t>On the other hand, Boehm's quality model is based on a wider range of characteristics. </a:t>
            </a:r>
          </a:p>
          <a:p>
            <a:pPr fontAlgn="base"/>
            <a:endParaRPr lang="en-US" sz="2400" b="0" i="0" dirty="0">
              <a:solidFill>
                <a:srgbClr val="0D0D0D"/>
              </a:solidFill>
              <a:effectLst/>
              <a:latin typeface="Söhne"/>
            </a:endParaRPr>
          </a:p>
          <a:p>
            <a:pPr fontAlgn="base"/>
            <a:r>
              <a:rPr lang="en-US" sz="2400" dirty="0">
                <a:solidFill>
                  <a:srgbClr val="0D0D0D"/>
                </a:solidFill>
                <a:latin typeface="Söhne"/>
                <a:cs typeface="Times New Roman" panose="02020603050405020304" pitchFamily="18" charset="0"/>
              </a:rPr>
              <a:t>	</a:t>
            </a:r>
            <a:r>
              <a:rPr lang="en-GB" sz="2400" b="1" dirty="0">
                <a:latin typeface="Times New Roman" panose="02020603050405020304" pitchFamily="18" charset="0"/>
                <a:cs typeface="Times New Roman" panose="02020603050405020304" pitchFamily="18" charset="0"/>
              </a:rPr>
              <a:t>Example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Characteristics of hardware performance, that are missing in McCall’s model.</a:t>
            </a:r>
          </a:p>
          <a:p>
            <a:endParaRPr lang="en-IN"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a:spLocks noGrp="1"/>
          </p:cNvSpPr>
          <p:nvPr/>
        </p:nvSpPr>
        <p:spPr>
          <a:xfrm>
            <a:off x="1373256" y="843677"/>
            <a:ext cx="9445487" cy="5170646"/>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l"/>
            <a:r>
              <a:rPr lang="en-US" sz="2400" b="0" i="0" dirty="0">
                <a:solidFill>
                  <a:srgbClr val="0D0D0D"/>
                </a:solidFill>
                <a:effectLst/>
                <a:latin typeface="Söhne"/>
              </a:rPr>
              <a:t>At the top level of Boehm's model, there are three primary uses:</a:t>
            </a:r>
          </a:p>
          <a:p>
            <a:pPr algn="l"/>
            <a:endParaRPr lang="en-US" sz="2400" b="0" i="0" dirty="0">
              <a:solidFill>
                <a:srgbClr val="0D0D0D"/>
              </a:solidFill>
              <a:effectLst/>
              <a:latin typeface="Söhne"/>
            </a:endParaRPr>
          </a:p>
          <a:p>
            <a:pPr algn="l">
              <a:buFont typeface="+mj-lt"/>
              <a:buAutoNum type="arabicPeriod"/>
            </a:pPr>
            <a:r>
              <a:rPr lang="en-US" sz="2400" b="1" i="0" dirty="0">
                <a:solidFill>
                  <a:srgbClr val="0D0D0D"/>
                </a:solidFill>
                <a:effectLst/>
                <a:latin typeface="Söhne"/>
              </a:rPr>
              <a:t>As is utility</a:t>
            </a:r>
            <a:r>
              <a:rPr lang="en-US" sz="2400" b="0" i="0" dirty="0">
                <a:solidFill>
                  <a:srgbClr val="0D0D0D"/>
                </a:solidFill>
                <a:effectLst/>
                <a:latin typeface="Söhne"/>
              </a:rPr>
              <a:t> - This tells us how much we can use the software as it is, meaning if we can use the software without making any changes or if there are any difficulties in using it without modifications.</a:t>
            </a:r>
          </a:p>
          <a:p>
            <a:pPr algn="l">
              <a:buFont typeface="+mj-lt"/>
              <a:buAutoNum type="arabicPeriod"/>
            </a:pPr>
            <a:endParaRPr lang="en-US" sz="2400" b="0" i="0" dirty="0">
              <a:solidFill>
                <a:srgbClr val="0D0D0D"/>
              </a:solidFill>
              <a:effectLst/>
              <a:latin typeface="Söhne"/>
            </a:endParaRPr>
          </a:p>
          <a:p>
            <a:pPr algn="l">
              <a:buFont typeface="+mj-lt"/>
              <a:buAutoNum type="arabicPeriod"/>
            </a:pPr>
            <a:r>
              <a:rPr lang="en-US" sz="2400" b="1" i="0" dirty="0">
                <a:solidFill>
                  <a:srgbClr val="0D0D0D"/>
                </a:solidFill>
                <a:effectLst/>
                <a:latin typeface="Söhne"/>
              </a:rPr>
              <a:t>Maintainability</a:t>
            </a:r>
            <a:r>
              <a:rPr lang="en-US" sz="2400" b="0" i="0" dirty="0">
                <a:solidFill>
                  <a:srgbClr val="0D0D0D"/>
                </a:solidFill>
                <a:effectLst/>
                <a:latin typeface="Söhne"/>
              </a:rPr>
              <a:t> - This indicates how much effort it takes to fix an error detected during maintenance. It shows how hard we need to work to correct any problems that occur in the software.</a:t>
            </a:r>
          </a:p>
          <a:p>
            <a:pPr algn="l">
              <a:buFont typeface="+mj-lt"/>
              <a:buAutoNum type="arabicPeriod"/>
            </a:pPr>
            <a:endParaRPr lang="en-US" sz="2400" b="0" i="0" dirty="0">
              <a:solidFill>
                <a:srgbClr val="0D0D0D"/>
              </a:solidFill>
              <a:effectLst/>
              <a:latin typeface="Söhne"/>
            </a:endParaRPr>
          </a:p>
          <a:p>
            <a:pPr algn="l">
              <a:buFont typeface="+mj-lt"/>
              <a:buAutoNum type="arabicPeriod"/>
            </a:pPr>
            <a:r>
              <a:rPr lang="en-US" sz="2400" b="1" i="0" dirty="0">
                <a:solidFill>
                  <a:srgbClr val="0D0D0D"/>
                </a:solidFill>
                <a:effectLst/>
                <a:latin typeface="Söhne"/>
              </a:rPr>
              <a:t>Portability</a:t>
            </a:r>
            <a:r>
              <a:rPr lang="en-US" sz="2400" b="0" i="0" dirty="0">
                <a:solidFill>
                  <a:srgbClr val="0D0D0D"/>
                </a:solidFill>
                <a:effectLst/>
                <a:latin typeface="Söhne"/>
              </a:rPr>
              <a:t> - This reveals how much effort is needed to fit the software into a new environment. It shows the complexity involved in shifting the software from one computer to another and how easily this can be done.</a:t>
            </a:r>
          </a:p>
          <a:p>
            <a:endParaRPr lang="en-IN"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a:spLocks noGrp="1"/>
          </p:cNvSpPr>
          <p:nvPr/>
        </p:nvSpPr>
        <p:spPr>
          <a:xfrm>
            <a:off x="859314" y="561860"/>
            <a:ext cx="10230599" cy="4801314"/>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l"/>
            <a:r>
              <a:rPr lang="en-US" sz="2400" b="0" i="0" dirty="0">
                <a:solidFill>
                  <a:srgbClr val="0D0D0D"/>
                </a:solidFill>
                <a:effectLst/>
                <a:latin typeface="Söhne"/>
              </a:rPr>
              <a:t>In the next level of Boehm's hierarchical model, there are seven quality factors related to three main uses:</a:t>
            </a:r>
          </a:p>
          <a:p>
            <a:pPr algn="l">
              <a:buFont typeface="+mj-lt"/>
              <a:buAutoNum type="arabicPeriod"/>
            </a:pPr>
            <a:r>
              <a:rPr lang="en-US" sz="2400" b="1" i="0" dirty="0">
                <a:solidFill>
                  <a:srgbClr val="0D0D0D"/>
                </a:solidFill>
                <a:effectLst/>
                <a:latin typeface="Söhne"/>
              </a:rPr>
              <a:t>Portability</a:t>
            </a:r>
            <a:r>
              <a:rPr lang="en-US" sz="2400" b="0" i="0" dirty="0">
                <a:solidFill>
                  <a:srgbClr val="0D0D0D"/>
                </a:solidFill>
                <a:effectLst/>
                <a:latin typeface="Söhne"/>
              </a:rPr>
              <a:t> - This tells us how much effort it takes to adjust the software to work in a new environment. It checks the complexity involved in moving the software from one system to another.</a:t>
            </a:r>
          </a:p>
          <a:p>
            <a:pPr algn="l">
              <a:buFont typeface="+mj-lt"/>
              <a:buAutoNum type="arabicPeriod"/>
            </a:pPr>
            <a:r>
              <a:rPr lang="en-US" sz="2400" b="1" i="0" dirty="0">
                <a:solidFill>
                  <a:srgbClr val="0D0D0D"/>
                </a:solidFill>
                <a:effectLst/>
                <a:latin typeface="Söhne"/>
              </a:rPr>
              <a:t>Reliability</a:t>
            </a:r>
            <a:r>
              <a:rPr lang="en-US" sz="2400" b="0" i="0" dirty="0">
                <a:solidFill>
                  <a:srgbClr val="0D0D0D"/>
                </a:solidFill>
                <a:effectLst/>
                <a:latin typeface="Söhne"/>
              </a:rPr>
              <a:t> - It measures how well the software performs according to its requirements.</a:t>
            </a:r>
          </a:p>
          <a:p>
            <a:pPr algn="l">
              <a:buFont typeface="+mj-lt"/>
              <a:buAutoNum type="arabicPeriod"/>
            </a:pPr>
            <a:r>
              <a:rPr lang="en-US" sz="2400" b="1" i="0" dirty="0">
                <a:solidFill>
                  <a:srgbClr val="0D0D0D"/>
                </a:solidFill>
                <a:effectLst/>
                <a:latin typeface="Söhne"/>
              </a:rPr>
              <a:t>Efficiency</a:t>
            </a:r>
            <a:r>
              <a:rPr lang="en-US" sz="2400" b="0" i="0" dirty="0">
                <a:solidFill>
                  <a:srgbClr val="0D0D0D"/>
                </a:solidFill>
                <a:effectLst/>
                <a:latin typeface="Söhne"/>
              </a:rPr>
              <a:t> - This factor looks at the resources, like time and code, needed to perform a function. It checks how quickly and effectively the software completes tasks.</a:t>
            </a:r>
          </a:p>
          <a:p>
            <a:pPr algn="l">
              <a:buFont typeface="+mj-lt"/>
              <a:buAutoNum type="arabicPeriod"/>
            </a:pPr>
            <a:r>
              <a:rPr lang="en-US" sz="2400" b="1" i="0" dirty="0">
                <a:solidFill>
                  <a:srgbClr val="0D0D0D"/>
                </a:solidFill>
                <a:effectLst/>
                <a:latin typeface="Söhne"/>
              </a:rPr>
              <a:t>Usability (Human Engineering)</a:t>
            </a:r>
            <a:r>
              <a:rPr lang="en-US" sz="2400" b="0" i="0" dirty="0">
                <a:solidFill>
                  <a:srgbClr val="0D0D0D"/>
                </a:solidFill>
                <a:effectLst/>
                <a:latin typeface="Söhne"/>
              </a:rPr>
              <a:t> - It measures how easy it is for users to learn, operate, and understand the software. It looks at whether the software is user-friendly or complicated.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34736" y="495758"/>
            <a:ext cx="10047383" cy="2677656"/>
          </a:xfrm>
          <a:prstGeom prst="rect">
            <a:avLst/>
          </a:prstGeom>
          <a:noFill/>
        </p:spPr>
        <p:txBody>
          <a:bodyPr wrap="square">
            <a:spAutoFit/>
          </a:bodyPr>
          <a:lstStyle/>
          <a:p>
            <a:pPr algn="l"/>
            <a:r>
              <a:rPr lang="en-US" sz="2400" b="1" i="0" dirty="0">
                <a:solidFill>
                  <a:srgbClr val="0D0D0D"/>
                </a:solidFill>
                <a:effectLst/>
                <a:latin typeface="Söhne"/>
              </a:rPr>
              <a:t>5. Testability</a:t>
            </a:r>
            <a:r>
              <a:rPr lang="en-US" sz="2400" b="0" i="0" dirty="0">
                <a:solidFill>
                  <a:srgbClr val="0D0D0D"/>
                </a:solidFill>
                <a:effectLst/>
                <a:latin typeface="Söhne"/>
              </a:rPr>
              <a:t> - It measures how much effort is needed to check if the software is working as it should. It examines the ease of verifying if the software meets its intended functions(specific task).</a:t>
            </a:r>
          </a:p>
          <a:p>
            <a:pPr algn="l"/>
            <a:r>
              <a:rPr lang="en-US" sz="2400" b="1" i="0" dirty="0">
                <a:solidFill>
                  <a:srgbClr val="0D0D0D"/>
                </a:solidFill>
                <a:effectLst/>
                <a:latin typeface="Söhne"/>
              </a:rPr>
              <a:t>6. Understandability</a:t>
            </a:r>
            <a:r>
              <a:rPr lang="en-US" sz="2400" b="0" i="0" dirty="0">
                <a:solidFill>
                  <a:srgbClr val="0D0D0D"/>
                </a:solidFill>
                <a:effectLst/>
                <a:latin typeface="Söhne"/>
              </a:rPr>
              <a:t> - It measures how much effort it takes for users to grasp the logical concepts behind the software and apply them.</a:t>
            </a:r>
          </a:p>
          <a:p>
            <a:pPr algn="l"/>
            <a:r>
              <a:rPr lang="en-US" sz="2400" b="1" i="0" dirty="0">
                <a:solidFill>
                  <a:srgbClr val="0D0D0D"/>
                </a:solidFill>
                <a:effectLst/>
                <a:latin typeface="Söhne"/>
              </a:rPr>
              <a:t>7. Modifiability</a:t>
            </a:r>
            <a:r>
              <a:rPr lang="en-US" sz="2400" b="0" i="0" dirty="0">
                <a:solidFill>
                  <a:srgbClr val="0D0D0D"/>
                </a:solidFill>
                <a:effectLst/>
                <a:latin typeface="Söhne"/>
              </a:rPr>
              <a:t> - It measures how much effort is needed to make changes to the software during the maintenance phase.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7321" y="243513"/>
            <a:ext cx="11002617" cy="569386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0"/>
              </a:spcAft>
              <a:buClrTx/>
              <a:buSzTx/>
              <a:buFontTx/>
              <a:buNone/>
              <a:defRPr/>
            </a:pPr>
            <a:r>
              <a:rPr kumimoji="0" lang="en-IN" sz="3000" b="0" i="0" u="none" strike="noStrike" kern="1200" cap="none" spc="-5"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Capability Maturity</a:t>
            </a:r>
            <a:r>
              <a:rPr kumimoji="0" lang="en-IN" sz="3000" b="0" i="0" u="none" strike="noStrike" kern="1200" cap="none" spc="-2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r>
              <a:rPr kumimoji="0" lang="en-IN" sz="3000" b="0" i="0" u="none" strike="noStrike" kern="1200" cap="none" spc="-5"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Model</a:t>
            </a:r>
            <a:endParaRPr kumimoji="0" lang="en-IN" sz="3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00000"/>
              </a:lnSpc>
              <a:spcBef>
                <a:spcPts val="0"/>
              </a:spcBef>
              <a:spcAft>
                <a:spcPts val="0"/>
              </a:spcAft>
              <a:buClrTx/>
              <a:buSzTx/>
              <a:buFontTx/>
              <a:buNone/>
              <a:defRPr/>
            </a:pPr>
            <a:endParaRPr kumimoji="0" lang="en-GB" sz="2400" b="0" i="0" u="none" strike="noStrike" kern="1200" cap="none" spc="0" normalizeH="0" baseline="0" noProof="0" dirty="0">
              <a:ln>
                <a:noFill/>
              </a:ln>
              <a:solidFill>
                <a:srgbClr val="273239"/>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00000"/>
              </a:lnSpc>
              <a:spcBef>
                <a:spcPts val="0"/>
              </a:spcBef>
              <a:spcAft>
                <a:spcPts val="0"/>
              </a:spcAft>
              <a:buClrTx/>
              <a:buSzTx/>
              <a:buFontTx/>
              <a:buNone/>
              <a:defRPr/>
            </a:pPr>
            <a:endParaRPr kumimoji="0" lang="en-GB" sz="2400" b="0" i="0" u="none" strike="noStrike" kern="1200" cap="none" spc="0" normalizeH="0" baseline="0" noProof="0" dirty="0">
              <a:ln>
                <a:noFill/>
              </a:ln>
              <a:solidFill>
                <a:srgbClr val="273239"/>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GB" sz="2400" b="0" i="0" u="none" strike="noStrike" kern="1200" cap="none" spc="0" normalizeH="0" baseline="0" noProof="0" dirty="0">
                <a:ln>
                  <a:noFill/>
                </a:ln>
                <a:solidFill>
                  <a:srgbClr val="273239"/>
                </a:solidFill>
                <a:effectLst/>
                <a:uLnTx/>
                <a:uFillTx/>
                <a:latin typeface="Times New Roman" panose="02020603050405020304" pitchFamily="18" charset="0"/>
                <a:cs typeface="Times New Roman" panose="02020603050405020304" pitchFamily="18" charset="0"/>
              </a:rPr>
              <a:t>CMM was developed by the Software Engineering Institute (SEI) at Carnegie Mellon University in 1987. </a:t>
            </a:r>
          </a:p>
          <a:p>
            <a:pPr marL="342900" marR="0" lvl="0" indent="-342900" algn="l"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GB" sz="2400" b="0" i="0" u="none" strike="noStrike" kern="1200" cap="none" spc="0" normalizeH="0" baseline="0" noProof="0" dirty="0">
                <a:ln>
                  <a:noFill/>
                </a:ln>
                <a:solidFill>
                  <a:srgbClr val="273239"/>
                </a:solidFill>
                <a:effectLst/>
                <a:uLnTx/>
                <a:uFillTx/>
                <a:latin typeface="Times New Roman" panose="02020603050405020304" pitchFamily="18" charset="0"/>
                <a:cs typeface="Times New Roman" panose="02020603050405020304" pitchFamily="18" charset="0"/>
              </a:rPr>
              <a:t>It is a framework that is used to analyze the approach and techniques followed by any organization to develop software products.</a:t>
            </a:r>
          </a:p>
          <a:p>
            <a:pPr marL="342900" marR="0" lvl="0" indent="-342900" algn="l"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GB" sz="2400" b="0" i="0" u="none" strike="noStrike" kern="1200" cap="none" spc="0" normalizeH="0" baseline="0" noProof="0" dirty="0">
                <a:ln>
                  <a:noFill/>
                </a:ln>
                <a:solidFill>
                  <a:srgbClr val="273239"/>
                </a:solidFill>
                <a:effectLst/>
                <a:uLnTx/>
                <a:uFillTx/>
                <a:latin typeface="Times New Roman" panose="02020603050405020304" pitchFamily="18" charset="0"/>
                <a:cs typeface="Times New Roman" panose="02020603050405020304" pitchFamily="18" charset="0"/>
              </a:rPr>
              <a:t>It also provides guidelines to further enhance the maturity of the process used to develop those software products.</a:t>
            </a:r>
          </a:p>
          <a:p>
            <a:pPr marL="342900" marR="0" lvl="0" indent="-342900" algn="l"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GB" sz="2400" b="0" i="0" u="none" strike="noStrike" kern="1200" cap="none" spc="0" normalizeH="0" baseline="0" noProof="0" dirty="0">
                <a:ln>
                  <a:noFill/>
                </a:ln>
                <a:solidFill>
                  <a:srgbClr val="273239"/>
                </a:solidFill>
                <a:effectLst/>
                <a:uLnTx/>
                <a:uFillTx/>
                <a:latin typeface="Times New Roman" panose="02020603050405020304" pitchFamily="18" charset="0"/>
                <a:cs typeface="Times New Roman" panose="02020603050405020304" pitchFamily="18" charset="0"/>
              </a:rPr>
              <a:t>It is based on profound feedback and development practices adopted by the most successful organizations worldwide.</a:t>
            </a:r>
          </a:p>
          <a:p>
            <a:pPr marL="342900" marR="0" lvl="0" indent="-342900" algn="l"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GB" sz="2400" b="0" i="0" u="none" strike="noStrike" kern="1200" cap="none" spc="0" normalizeH="0" baseline="0" noProof="0" dirty="0">
                <a:ln>
                  <a:noFill/>
                </a:ln>
                <a:solidFill>
                  <a:srgbClr val="273239"/>
                </a:solidFill>
                <a:effectLst/>
                <a:uLnTx/>
                <a:uFillTx/>
                <a:latin typeface="Times New Roman" panose="02020603050405020304" pitchFamily="18" charset="0"/>
                <a:cs typeface="Times New Roman" panose="02020603050405020304" pitchFamily="18" charset="0"/>
              </a:rPr>
              <a:t>This model describes a strategy for software process improvement that should be followed by moving through 5 different levels.</a:t>
            </a:r>
          </a:p>
          <a:p>
            <a:pPr marL="342900" marR="0" lvl="0" indent="-342900" algn="l"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GB" sz="2400" b="0" i="0" u="none" strike="noStrike" kern="1200" cap="none" spc="0" normalizeH="0" baseline="0" noProof="0" dirty="0">
                <a:ln>
                  <a:noFill/>
                </a:ln>
                <a:solidFill>
                  <a:srgbClr val="273239"/>
                </a:solidFill>
                <a:effectLst/>
                <a:uLnTx/>
                <a:uFillTx/>
                <a:latin typeface="Times New Roman" panose="02020603050405020304" pitchFamily="18" charset="0"/>
                <a:cs typeface="Times New Roman" panose="02020603050405020304" pitchFamily="18" charset="0"/>
              </a:rPr>
              <a:t>Each level of maturity shows a process capability level. All the levels except level-1 are further described by Key Process Areas (KPA’s).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7991" y="1015008"/>
            <a:ext cx="9521687" cy="1661993"/>
          </a:xfrm>
          <a:prstGeom prst="rect">
            <a:avLst/>
          </a:prstGeom>
          <a:noFill/>
        </p:spPr>
        <p:txBody>
          <a:bodyPr wrap="square" rtlCol="0">
            <a:spAutoFit/>
          </a:bodyPr>
          <a:lstStyle/>
          <a:p>
            <a:pPr marL="457200" indent="-457200" algn="l">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It is a strategy for improving the software process.</a:t>
            </a:r>
          </a:p>
          <a:p>
            <a:pPr marL="457200" indent="-457200" algn="l">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It is also used to developed organization software process.</a:t>
            </a:r>
          </a:p>
          <a:p>
            <a:pPr marL="457200" indent="-457200" algn="l">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The model describes a five level path .</a:t>
            </a:r>
          </a:p>
          <a:p>
            <a:endParaRPr lang="en-IN" dirty="0"/>
          </a:p>
        </p:txBody>
      </p:sp>
      <p:sp>
        <p:nvSpPr>
          <p:cNvPr id="4" name="TextBox 3"/>
          <p:cNvSpPr txBox="1"/>
          <p:nvPr/>
        </p:nvSpPr>
        <p:spPr>
          <a:xfrm>
            <a:off x="327991" y="287441"/>
            <a:ext cx="6102626" cy="646331"/>
          </a:xfrm>
          <a:prstGeom prst="rect">
            <a:avLst/>
          </a:prstGeom>
          <a:noFill/>
        </p:spPr>
        <p:txBody>
          <a:bodyPr wrap="square">
            <a:spAutoFit/>
          </a:bodyPr>
          <a:lstStyle/>
          <a:p>
            <a:pPr marL="571500" marR="0" lvl="0" indent="-571500" defTabSz="914400" rtl="0" eaLnBrk="1" fontAlgn="base" latinLnBrk="0" hangingPunct="1">
              <a:lnSpc>
                <a:spcPct val="100000"/>
              </a:lnSpc>
              <a:spcBef>
                <a:spcPts val="0"/>
              </a:spcBef>
              <a:spcAft>
                <a:spcPts val="0"/>
              </a:spcAft>
              <a:buClrTx/>
              <a:buSzTx/>
              <a:buFont typeface="Arial" panose="020B0604020202020204" pitchFamily="34" charset="0"/>
              <a:buChar char="•"/>
              <a:defRPr/>
            </a:pPr>
            <a:r>
              <a:rPr kumimoji="0" lang="en-IN" sz="3600" b="0" i="0" u="none" strike="noStrike" kern="1200" cap="none" spc="-5"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Capability Maturity</a:t>
            </a:r>
            <a:r>
              <a:rPr kumimoji="0" lang="en-IN" sz="3600" b="0" i="0" u="none" strike="noStrike" kern="1200" cap="none" spc="-2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r>
              <a:rPr kumimoji="0" lang="en-IN" sz="3600" b="0" i="0" u="none" strike="noStrike" kern="1200" cap="none" spc="-5"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Model</a:t>
            </a:r>
            <a:endParaRPr kumimoji="0" lang="en-IN"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23972B7-2267-D7E5-C67A-AEE15291BC37}"/>
              </a:ext>
            </a:extLst>
          </p:cNvPr>
          <p:cNvPicPr>
            <a:picLocks noChangeAspect="1"/>
          </p:cNvPicPr>
          <p:nvPr/>
        </p:nvPicPr>
        <p:blipFill>
          <a:blip r:embed="rId2"/>
          <a:stretch>
            <a:fillRect/>
          </a:stretch>
        </p:blipFill>
        <p:spPr>
          <a:xfrm>
            <a:off x="2421652" y="2331218"/>
            <a:ext cx="9389347" cy="395528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29409" y="357023"/>
            <a:ext cx="6872563" cy="5219378"/>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sz="3200" b="0" i="0" u="none" strike="noStrike" kern="1200" cap="none" spc="-5" normalizeH="0" baseline="0" noProof="0" dirty="0">
                <a:ln>
                  <a:noFill/>
                </a:ln>
                <a:solidFill>
                  <a:srgbClr val="CC3200"/>
                </a:solidFill>
                <a:effectLst/>
                <a:uLnTx/>
                <a:uFillTx/>
                <a:latin typeface="Times New Roman" panose="02020603050405020304" pitchFamily="18" charset="0"/>
                <a:cs typeface="Times New Roman" panose="02020603050405020304" pitchFamily="18" charset="0"/>
              </a:rPr>
              <a:t>Maturity Levels:</a:t>
            </a:r>
            <a:endParaRPr kumimoji="0"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290955" marR="0" lvl="0" indent="-572135" algn="l" defTabSz="914400" rtl="0" eaLnBrk="1" fontAlgn="auto" latinLnBrk="0" hangingPunct="1">
              <a:lnSpc>
                <a:spcPct val="100000"/>
              </a:lnSpc>
              <a:spcBef>
                <a:spcPts val="2200"/>
              </a:spcBef>
              <a:spcAft>
                <a:spcPts val="0"/>
              </a:spcAft>
              <a:buClrTx/>
              <a:buSzTx/>
              <a:buFont typeface="AoyagiKouzanFontT"/>
              <a:buChar char="✓"/>
              <a:tabLst>
                <a:tab pos="1290955" algn="l"/>
                <a:tab pos="1291590" algn="l"/>
              </a:tabLst>
              <a:defRPr/>
            </a:pPr>
            <a:r>
              <a:rPr kumimoji="0" sz="3200" b="0" i="0" u="none" strike="noStrike" kern="1200" cap="none" spc="-5" normalizeH="0" baseline="0" noProof="0" dirty="0">
                <a:ln>
                  <a:noFill/>
                </a:ln>
                <a:solidFill>
                  <a:srgbClr val="003265"/>
                </a:solidFill>
                <a:effectLst/>
                <a:uLnTx/>
                <a:uFillTx/>
                <a:latin typeface="Times New Roman" panose="02020603050405020304" pitchFamily="18" charset="0"/>
                <a:cs typeface="Times New Roman" panose="02020603050405020304" pitchFamily="18" charset="0"/>
              </a:rPr>
              <a:t>Initial </a:t>
            </a:r>
            <a:r>
              <a:rPr kumimoji="0" sz="3200" b="0" i="0" u="none" strike="noStrike" kern="1200" cap="none" spc="0" normalizeH="0" baseline="0" noProof="0" dirty="0">
                <a:ln>
                  <a:noFill/>
                </a:ln>
                <a:solidFill>
                  <a:srgbClr val="003265"/>
                </a:solidFill>
                <a:effectLst/>
                <a:uLnTx/>
                <a:uFillTx/>
                <a:latin typeface="Times New Roman" panose="02020603050405020304" pitchFamily="18" charset="0"/>
                <a:cs typeface="Times New Roman" panose="02020603050405020304" pitchFamily="18" charset="0"/>
              </a:rPr>
              <a:t>(Maturity </a:t>
            </a:r>
            <a:r>
              <a:rPr kumimoji="0" sz="3200" b="0" i="0" u="none" strike="noStrike" kern="1200" cap="none" spc="-5" normalizeH="0" baseline="0" noProof="0" dirty="0">
                <a:ln>
                  <a:noFill/>
                </a:ln>
                <a:solidFill>
                  <a:srgbClr val="003265"/>
                </a:solidFill>
                <a:effectLst/>
                <a:uLnTx/>
                <a:uFillTx/>
                <a:latin typeface="Times New Roman" panose="02020603050405020304" pitchFamily="18" charset="0"/>
                <a:cs typeface="Times New Roman" panose="02020603050405020304" pitchFamily="18" charset="0"/>
              </a:rPr>
              <a:t>Level</a:t>
            </a:r>
            <a:r>
              <a:rPr kumimoji="0" sz="3200" b="0" i="0" u="none" strike="noStrike" kern="1200" cap="none" spc="-50" normalizeH="0" baseline="0" noProof="0" dirty="0">
                <a:ln>
                  <a:noFill/>
                </a:ln>
                <a:solidFill>
                  <a:srgbClr val="003265"/>
                </a:solidFill>
                <a:effectLst/>
                <a:uLnTx/>
                <a:uFillTx/>
                <a:latin typeface="Times New Roman" panose="02020603050405020304" pitchFamily="18" charset="0"/>
                <a:cs typeface="Times New Roman" panose="02020603050405020304" pitchFamily="18" charset="0"/>
              </a:rPr>
              <a:t> </a:t>
            </a:r>
            <a:r>
              <a:rPr kumimoji="0" sz="3200" b="0" i="0" u="none" strike="noStrike" kern="1200" cap="none" spc="5" normalizeH="0" baseline="0" noProof="0" dirty="0">
                <a:ln>
                  <a:noFill/>
                </a:ln>
                <a:solidFill>
                  <a:srgbClr val="003265"/>
                </a:solidFill>
                <a:effectLst/>
                <a:uLnTx/>
                <a:uFillTx/>
                <a:latin typeface="Times New Roman" panose="02020603050405020304" pitchFamily="18" charset="0"/>
                <a:cs typeface="Times New Roman" panose="02020603050405020304" pitchFamily="18" charset="0"/>
              </a:rPr>
              <a:t>1)</a:t>
            </a:r>
            <a:endParaRPr kumimoji="0"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10"/>
              </a:spcBef>
              <a:spcAft>
                <a:spcPts val="0"/>
              </a:spcAft>
              <a:buClrTx/>
              <a:buSzTx/>
              <a:buFontTx/>
              <a:buChar char="✓"/>
              <a:defRPr/>
            </a:pPr>
            <a:endParaRPr kumimoji="0"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290955" marR="0" lvl="0" indent="-572135" algn="l" defTabSz="914400" rtl="0" eaLnBrk="1" fontAlgn="auto" latinLnBrk="0" hangingPunct="1">
              <a:lnSpc>
                <a:spcPct val="100000"/>
              </a:lnSpc>
              <a:spcBef>
                <a:spcPts val="0"/>
              </a:spcBef>
              <a:spcAft>
                <a:spcPts val="0"/>
              </a:spcAft>
              <a:buClrTx/>
              <a:buSzTx/>
              <a:buFont typeface="AoyagiKouzanFontT"/>
              <a:buChar char="✓"/>
              <a:tabLst>
                <a:tab pos="1290955" algn="l"/>
                <a:tab pos="1291590" algn="l"/>
              </a:tabLst>
              <a:defRPr/>
            </a:pPr>
            <a:r>
              <a:rPr kumimoji="0" sz="3200" b="0" i="0" u="none" strike="noStrike" kern="1200" cap="none" spc="-5" normalizeH="0" baseline="0" noProof="0" dirty="0">
                <a:ln>
                  <a:noFill/>
                </a:ln>
                <a:solidFill>
                  <a:srgbClr val="996532"/>
                </a:solidFill>
                <a:effectLst/>
                <a:uLnTx/>
                <a:uFillTx/>
                <a:latin typeface="Times New Roman" panose="02020603050405020304" pitchFamily="18" charset="0"/>
                <a:cs typeface="Times New Roman" panose="02020603050405020304" pitchFamily="18" charset="0"/>
              </a:rPr>
              <a:t>Repeatable (Maturity </a:t>
            </a:r>
            <a:r>
              <a:rPr kumimoji="0" sz="3200" b="0" i="0" u="none" strike="noStrike" kern="1200" cap="none" spc="0" normalizeH="0" baseline="0" noProof="0" dirty="0">
                <a:ln>
                  <a:noFill/>
                </a:ln>
                <a:solidFill>
                  <a:srgbClr val="996532"/>
                </a:solidFill>
                <a:effectLst/>
                <a:uLnTx/>
                <a:uFillTx/>
                <a:latin typeface="Times New Roman" panose="02020603050405020304" pitchFamily="18" charset="0"/>
                <a:cs typeface="Times New Roman" panose="02020603050405020304" pitchFamily="18" charset="0"/>
              </a:rPr>
              <a:t>Level</a:t>
            </a:r>
            <a:r>
              <a:rPr kumimoji="0" sz="3200" b="0" i="0" u="none" strike="noStrike" kern="1200" cap="none" spc="-45" normalizeH="0" baseline="0" noProof="0" dirty="0">
                <a:ln>
                  <a:noFill/>
                </a:ln>
                <a:solidFill>
                  <a:srgbClr val="996532"/>
                </a:solidFill>
                <a:effectLst/>
                <a:uLnTx/>
                <a:uFillTx/>
                <a:latin typeface="Times New Roman" panose="02020603050405020304" pitchFamily="18" charset="0"/>
                <a:cs typeface="Times New Roman" panose="02020603050405020304" pitchFamily="18" charset="0"/>
              </a:rPr>
              <a:t> </a:t>
            </a:r>
            <a:r>
              <a:rPr kumimoji="0" sz="3200" b="0" i="0" u="none" strike="noStrike" kern="1200" cap="none" spc="5" normalizeH="0" baseline="0" noProof="0" dirty="0">
                <a:ln>
                  <a:noFill/>
                </a:ln>
                <a:solidFill>
                  <a:srgbClr val="996532"/>
                </a:solidFill>
                <a:effectLst/>
                <a:uLnTx/>
                <a:uFillTx/>
                <a:latin typeface="Times New Roman" panose="02020603050405020304" pitchFamily="18" charset="0"/>
                <a:cs typeface="Times New Roman" panose="02020603050405020304" pitchFamily="18" charset="0"/>
              </a:rPr>
              <a:t>2)</a:t>
            </a:r>
            <a:endParaRPr kumimoji="0"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35"/>
              </a:spcBef>
              <a:spcAft>
                <a:spcPts val="0"/>
              </a:spcAft>
              <a:buClrTx/>
              <a:buSzTx/>
              <a:buFontTx/>
              <a:buChar char="✓"/>
              <a:defRPr/>
            </a:pPr>
            <a:endParaRPr kumimoji="0"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320165" marR="0" lvl="0" indent="-572135" algn="l" defTabSz="914400" rtl="0" eaLnBrk="1" fontAlgn="auto" latinLnBrk="0" hangingPunct="1">
              <a:lnSpc>
                <a:spcPct val="100000"/>
              </a:lnSpc>
              <a:spcBef>
                <a:spcPts val="0"/>
              </a:spcBef>
              <a:spcAft>
                <a:spcPts val="0"/>
              </a:spcAft>
              <a:buClrTx/>
              <a:buSzTx/>
              <a:buFont typeface="AoyagiKouzanFontT"/>
              <a:buChar char="✓"/>
              <a:tabLst>
                <a:tab pos="1320165" algn="l"/>
                <a:tab pos="1320800" algn="l"/>
              </a:tabLst>
              <a:defRPr/>
            </a:pPr>
            <a:r>
              <a:rPr kumimoji="0" sz="3200" b="0" i="0" u="none" strike="noStrike" kern="1200" cap="none" spc="-5" normalizeH="0" baseline="0" noProof="0" dirty="0">
                <a:ln>
                  <a:noFill/>
                </a:ln>
                <a:solidFill>
                  <a:srgbClr val="3232FF"/>
                </a:solidFill>
                <a:effectLst/>
                <a:uLnTx/>
                <a:uFillTx/>
                <a:latin typeface="Times New Roman" panose="02020603050405020304" pitchFamily="18" charset="0"/>
                <a:cs typeface="Times New Roman" panose="02020603050405020304" pitchFamily="18" charset="0"/>
              </a:rPr>
              <a:t>Defined (Maturity Level</a:t>
            </a:r>
            <a:r>
              <a:rPr kumimoji="0" sz="3200" b="0" i="0" u="none" strike="noStrike" kern="1200" cap="none" spc="-30" normalizeH="0" baseline="0" noProof="0" dirty="0">
                <a:ln>
                  <a:noFill/>
                </a:ln>
                <a:solidFill>
                  <a:srgbClr val="3232FF"/>
                </a:solidFill>
                <a:effectLst/>
                <a:uLnTx/>
                <a:uFillTx/>
                <a:latin typeface="Times New Roman" panose="02020603050405020304" pitchFamily="18" charset="0"/>
                <a:cs typeface="Times New Roman" panose="02020603050405020304" pitchFamily="18" charset="0"/>
              </a:rPr>
              <a:t> </a:t>
            </a:r>
            <a:r>
              <a:rPr kumimoji="0" sz="3200" b="0" i="0" u="none" strike="noStrike" kern="1200" cap="none" spc="5" normalizeH="0" baseline="0" noProof="0" dirty="0">
                <a:ln>
                  <a:noFill/>
                </a:ln>
                <a:solidFill>
                  <a:srgbClr val="3232FF"/>
                </a:solidFill>
                <a:effectLst/>
                <a:uLnTx/>
                <a:uFillTx/>
                <a:latin typeface="Times New Roman" panose="02020603050405020304" pitchFamily="18" charset="0"/>
                <a:cs typeface="Times New Roman" panose="02020603050405020304" pitchFamily="18" charset="0"/>
              </a:rPr>
              <a:t>3)</a:t>
            </a:r>
            <a:endParaRPr kumimoji="0"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
              </a:spcBef>
              <a:spcAft>
                <a:spcPts val="0"/>
              </a:spcAft>
              <a:buClrTx/>
              <a:buSzTx/>
              <a:buFontTx/>
              <a:buChar char="✓"/>
              <a:defRPr/>
            </a:pPr>
            <a:endParaRPr kumimoji="0"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290955" marR="0" lvl="0" indent="-572135" algn="l" defTabSz="914400" rtl="0" eaLnBrk="1" fontAlgn="auto" latinLnBrk="0" hangingPunct="1">
              <a:lnSpc>
                <a:spcPct val="100000"/>
              </a:lnSpc>
              <a:spcBef>
                <a:spcPts val="0"/>
              </a:spcBef>
              <a:spcAft>
                <a:spcPts val="0"/>
              </a:spcAft>
              <a:buClrTx/>
              <a:buSzTx/>
              <a:buFont typeface="AoyagiKouzanFontT"/>
              <a:buChar char="✓"/>
              <a:tabLst>
                <a:tab pos="1290955" algn="l"/>
                <a:tab pos="1291590" algn="l"/>
              </a:tabLst>
              <a:defRPr/>
            </a:pPr>
            <a:r>
              <a:rPr kumimoji="0" sz="3200" b="0" i="0" u="none" strike="noStrike" kern="1200" cap="none" spc="-5" normalizeH="0" baseline="0" noProof="0" dirty="0">
                <a:ln>
                  <a:noFill/>
                </a:ln>
                <a:solidFill>
                  <a:srgbClr val="650065"/>
                </a:solidFill>
                <a:effectLst/>
                <a:uLnTx/>
                <a:uFillTx/>
                <a:latin typeface="Times New Roman" panose="02020603050405020304" pitchFamily="18" charset="0"/>
                <a:cs typeface="Times New Roman" panose="02020603050405020304" pitchFamily="18" charset="0"/>
              </a:rPr>
              <a:t>Managed (Maturity </a:t>
            </a:r>
            <a:r>
              <a:rPr kumimoji="0" sz="3200" b="0" i="0" u="none" strike="noStrike" kern="1200" cap="none" spc="0" normalizeH="0" baseline="0" noProof="0" dirty="0">
                <a:ln>
                  <a:noFill/>
                </a:ln>
                <a:solidFill>
                  <a:srgbClr val="650065"/>
                </a:solidFill>
                <a:effectLst/>
                <a:uLnTx/>
                <a:uFillTx/>
                <a:latin typeface="Times New Roman" panose="02020603050405020304" pitchFamily="18" charset="0"/>
                <a:cs typeface="Times New Roman" panose="02020603050405020304" pitchFamily="18" charset="0"/>
              </a:rPr>
              <a:t>Level</a:t>
            </a:r>
            <a:r>
              <a:rPr kumimoji="0" sz="3200" b="0" i="0" u="none" strike="noStrike" kern="1200" cap="none" spc="-35" normalizeH="0" baseline="0" noProof="0" dirty="0">
                <a:ln>
                  <a:noFill/>
                </a:ln>
                <a:solidFill>
                  <a:srgbClr val="650065"/>
                </a:solidFill>
                <a:effectLst/>
                <a:uLnTx/>
                <a:uFillTx/>
                <a:latin typeface="Times New Roman" panose="02020603050405020304" pitchFamily="18" charset="0"/>
                <a:cs typeface="Times New Roman" panose="02020603050405020304" pitchFamily="18" charset="0"/>
              </a:rPr>
              <a:t> </a:t>
            </a:r>
            <a:r>
              <a:rPr kumimoji="0" sz="3200" b="0" i="0" u="none" strike="noStrike" kern="1200" cap="none" spc="5" normalizeH="0" baseline="0" noProof="0" dirty="0">
                <a:ln>
                  <a:noFill/>
                </a:ln>
                <a:solidFill>
                  <a:srgbClr val="650065"/>
                </a:solidFill>
                <a:effectLst/>
                <a:uLnTx/>
                <a:uFillTx/>
                <a:latin typeface="Times New Roman" panose="02020603050405020304" pitchFamily="18" charset="0"/>
                <a:cs typeface="Times New Roman" panose="02020603050405020304" pitchFamily="18" charset="0"/>
              </a:rPr>
              <a:t>4)</a:t>
            </a:r>
            <a:endParaRPr kumimoji="0"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
              </a:spcBef>
              <a:spcAft>
                <a:spcPts val="0"/>
              </a:spcAft>
              <a:buClrTx/>
              <a:buSzTx/>
              <a:buFontTx/>
              <a:buChar char="✓"/>
              <a:defRPr/>
            </a:pPr>
            <a:endParaRPr kumimoji="0"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290955" marR="0" lvl="0" indent="-572135" algn="l" defTabSz="914400" rtl="0" eaLnBrk="1" fontAlgn="auto" latinLnBrk="0" hangingPunct="1">
              <a:lnSpc>
                <a:spcPct val="100000"/>
              </a:lnSpc>
              <a:spcBef>
                <a:spcPts val="0"/>
              </a:spcBef>
              <a:spcAft>
                <a:spcPts val="0"/>
              </a:spcAft>
              <a:buClrTx/>
              <a:buSzTx/>
              <a:buFont typeface="AoyagiKouzanFontT"/>
              <a:buChar char="✓"/>
              <a:tabLst>
                <a:tab pos="1290955" algn="l"/>
                <a:tab pos="1291590" algn="l"/>
              </a:tabLst>
              <a:defRPr/>
            </a:pPr>
            <a:r>
              <a:rPr kumimoji="0" sz="3200" b="0" i="0" u="none" strike="noStrike" kern="1200" cap="none" spc="-5" normalizeH="0" baseline="0" noProof="0" dirty="0">
                <a:ln>
                  <a:noFill/>
                </a:ln>
                <a:solidFill>
                  <a:srgbClr val="009999"/>
                </a:solidFill>
                <a:effectLst/>
                <a:uLnTx/>
                <a:uFillTx/>
                <a:latin typeface="Times New Roman" panose="02020603050405020304" pitchFamily="18" charset="0"/>
                <a:cs typeface="Times New Roman" panose="02020603050405020304" pitchFamily="18" charset="0"/>
              </a:rPr>
              <a:t>Optimizing (Maturity Level</a:t>
            </a:r>
            <a:r>
              <a:rPr kumimoji="0" sz="3200" b="0" i="0" u="none" strike="noStrike" kern="1200" cap="none" spc="-25" normalizeH="0" baseline="0" noProof="0" dirty="0">
                <a:ln>
                  <a:noFill/>
                </a:ln>
                <a:solidFill>
                  <a:srgbClr val="009999"/>
                </a:solidFill>
                <a:effectLst/>
                <a:uLnTx/>
                <a:uFillTx/>
                <a:latin typeface="Times New Roman" panose="02020603050405020304" pitchFamily="18" charset="0"/>
                <a:cs typeface="Times New Roman" panose="02020603050405020304" pitchFamily="18" charset="0"/>
              </a:rPr>
              <a:t> </a:t>
            </a:r>
            <a:r>
              <a:rPr kumimoji="0" sz="3200" b="0" i="0" u="none" strike="noStrike" kern="1200" cap="none" spc="5" normalizeH="0" baseline="0" noProof="0" dirty="0">
                <a:ln>
                  <a:noFill/>
                </a:ln>
                <a:solidFill>
                  <a:srgbClr val="009999"/>
                </a:solidFill>
                <a:effectLst/>
                <a:uLnTx/>
                <a:uFillTx/>
                <a:latin typeface="Times New Roman" panose="02020603050405020304" pitchFamily="18" charset="0"/>
                <a:cs typeface="Times New Roman" panose="02020603050405020304" pitchFamily="18" charset="0"/>
              </a:rPr>
              <a:t>5)</a:t>
            </a:r>
            <a:endParaRPr kumimoji="0"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able"/>
          <p:cNvPicPr>
            <a:picLocks noChangeAspect="1"/>
          </p:cNvPicPr>
          <p:nvPr/>
        </p:nvPicPr>
        <p:blipFill>
          <a:blip r:embed="rId2"/>
          <a:stretch>
            <a:fillRect/>
          </a:stretch>
        </p:blipFill>
        <p:spPr>
          <a:xfrm>
            <a:off x="2315816" y="442593"/>
            <a:ext cx="6867939" cy="4064502"/>
          </a:xfrm>
          <a:prstGeom prst="rect">
            <a:avLst/>
          </a:prstGeom>
        </p:spPr>
      </p:pic>
      <p:sp>
        <p:nvSpPr>
          <p:cNvPr id="4" name="object 4"/>
          <p:cNvSpPr txBox="1"/>
          <p:nvPr/>
        </p:nvSpPr>
        <p:spPr>
          <a:xfrm>
            <a:off x="3230217" y="4880114"/>
            <a:ext cx="5426765" cy="443711"/>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sz="2800" b="1" i="0" u="none" strike="noStrike" kern="1200" cap="none" spc="-5" normalizeH="0" baseline="0" noProof="0" dirty="0">
                <a:ln>
                  <a:noFill/>
                </a:ln>
                <a:solidFill>
                  <a:srgbClr val="003265"/>
                </a:solidFill>
                <a:effectLst/>
                <a:uLnTx/>
                <a:uFillTx/>
                <a:latin typeface="Times New Roman" panose="02020603050405020304" pitchFamily="18" charset="0"/>
                <a:cs typeface="Times New Roman" panose="02020603050405020304" pitchFamily="18" charset="0"/>
              </a:rPr>
              <a:t>Fig.</a:t>
            </a:r>
            <a:r>
              <a:rPr lang="en-US" sz="2800" b="1" spc="-5" dirty="0">
                <a:solidFill>
                  <a:srgbClr val="003265"/>
                </a:solidFill>
                <a:latin typeface="Times New Roman" panose="02020603050405020304" pitchFamily="18" charset="0"/>
                <a:cs typeface="Times New Roman" panose="02020603050405020304" pitchFamily="18" charset="0"/>
              </a:rPr>
              <a:t>  </a:t>
            </a:r>
            <a:r>
              <a:rPr kumimoji="0" sz="2800" b="1" i="0" u="none" strike="noStrike" kern="1200" cap="none" spc="-5" normalizeH="0" baseline="0" noProof="0" dirty="0">
                <a:ln>
                  <a:noFill/>
                </a:ln>
                <a:solidFill>
                  <a:srgbClr val="003265"/>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0" normalizeH="0" baseline="0" noProof="0" dirty="0">
                <a:ln>
                  <a:noFill/>
                </a:ln>
                <a:solidFill>
                  <a:srgbClr val="003265"/>
                </a:solidFill>
                <a:effectLst/>
                <a:uLnTx/>
                <a:uFillTx/>
                <a:latin typeface="Times New Roman" panose="02020603050405020304" pitchFamily="18" charset="0"/>
                <a:cs typeface="Times New Roman" panose="02020603050405020304" pitchFamily="18" charset="0"/>
              </a:rPr>
              <a:t>The </a:t>
            </a:r>
            <a:r>
              <a:rPr kumimoji="0" sz="2800" b="0" i="0" u="none" strike="noStrike" kern="1200" cap="none" spc="-5" normalizeH="0" baseline="0" noProof="0" dirty="0">
                <a:ln>
                  <a:noFill/>
                </a:ln>
                <a:solidFill>
                  <a:srgbClr val="003265"/>
                </a:solidFill>
                <a:effectLst/>
                <a:uLnTx/>
                <a:uFillTx/>
                <a:latin typeface="Times New Roman" panose="02020603050405020304" pitchFamily="18" charset="0"/>
                <a:cs typeface="Times New Roman" panose="02020603050405020304" pitchFamily="18" charset="0"/>
              </a:rPr>
              <a:t>five levels of</a:t>
            </a:r>
            <a:r>
              <a:rPr kumimoji="0" sz="2800" b="0" i="0" u="none" strike="noStrike" kern="1200" cap="none" spc="-25" normalizeH="0" baseline="0" noProof="0" dirty="0">
                <a:ln>
                  <a:noFill/>
                </a:ln>
                <a:solidFill>
                  <a:srgbClr val="003265"/>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5" normalizeH="0" baseline="0" noProof="0" dirty="0">
                <a:ln>
                  <a:noFill/>
                </a:ln>
                <a:solidFill>
                  <a:srgbClr val="003265"/>
                </a:solidFill>
                <a:effectLst/>
                <a:uLnTx/>
                <a:uFillTx/>
                <a:latin typeface="Times New Roman" panose="02020603050405020304" pitchFamily="18" charset="0"/>
                <a:cs typeface="Times New Roman" panose="02020603050405020304" pitchFamily="18" charset="0"/>
              </a:rPr>
              <a:t>CMM</a:t>
            </a:r>
            <a:endParaRPr kumimoji="0"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b="1" dirty="0">
                <a:latin typeface="Times New Roman" panose="02020603050405020304" pitchFamily="18" charset="0"/>
                <a:cs typeface="Times New Roman" panose="02020603050405020304" pitchFamily="18" charset="0"/>
              </a:rPr>
              <a:t>Level-1 Initial (Chaotic, ad-hoc)</a:t>
            </a:r>
          </a:p>
        </p:txBody>
      </p:sp>
      <p:sp>
        <p:nvSpPr>
          <p:cNvPr id="3" name="Content Placeholder 2">
            <a:extLst>
              <a:ext uri="{FF2B5EF4-FFF2-40B4-BE49-F238E27FC236}">
                <a16:creationId xmlns:a16="http://schemas.microsoft.com/office/drawing/2014/main" id="{20274436-FD97-884B-BB56-3D9CCAE9E40D}"/>
              </a:ext>
            </a:extLst>
          </p:cNvPr>
          <p:cNvSpPr>
            <a:spLocks noGrp="1"/>
          </p:cNvSpPr>
          <p:nvPr>
            <p:ph idx="1"/>
          </p:nvPr>
        </p:nvSpPr>
        <p:spPr>
          <a:xfrm>
            <a:off x="1451579" y="2015732"/>
            <a:ext cx="9603275" cy="4120663"/>
          </a:xfrm>
        </p:spPr>
        <p:txBody>
          <a:bodyPr>
            <a:normAutofit/>
          </a:bodyPr>
          <a:lstStyle/>
          <a:p>
            <a:pPr marL="0" indent="0" algn="just">
              <a:buNone/>
            </a:pPr>
            <a:r>
              <a:rPr lang="en-US" dirty="0"/>
              <a:t>The software process is characterized as inconsistent, and occasionally even chaotic. Defined processes and standard practices that exist are abandoned during a crisis. Success of the organization majorly depends on an individual effort, talent, and heroics. The heroes eventually move on to other organizations taking their wealth of knowledge or lessons learnt with them.</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7309B6-9B5F-8851-E63E-5A1E380AE6AE}"/>
              </a:ext>
            </a:extLst>
          </p:cNvPr>
          <p:cNvSpPr>
            <a:spLocks noGrp="1"/>
          </p:cNvSpPr>
          <p:nvPr>
            <p:ph type="title"/>
          </p:nvPr>
        </p:nvSpPr>
        <p:spPr>
          <a:xfrm>
            <a:off x="925417" y="804519"/>
            <a:ext cx="10939749" cy="1049235"/>
          </a:xfrm>
        </p:spPr>
        <p:txBody>
          <a:bodyPr>
            <a:normAutofit/>
          </a:bodyPr>
          <a:lstStyle/>
          <a:p>
            <a:r>
              <a:rPr lang="en-GB" sz="3200" b="1" dirty="0">
                <a:latin typeface="Times New Roman" panose="02020603050405020304" pitchFamily="18" charset="0"/>
                <a:cs typeface="Times New Roman" panose="02020603050405020304" pitchFamily="18" charset="0"/>
              </a:rPr>
              <a:t>Level-2: Repeatable (Project management)</a:t>
            </a:r>
            <a:endParaRPr lang="en-IN" dirty="0"/>
          </a:p>
        </p:txBody>
      </p:sp>
      <p:sp>
        <p:nvSpPr>
          <p:cNvPr id="6" name="Content Placeholder 5">
            <a:extLst>
              <a:ext uri="{FF2B5EF4-FFF2-40B4-BE49-F238E27FC236}">
                <a16:creationId xmlns:a16="http://schemas.microsoft.com/office/drawing/2014/main" id="{4C23F52D-7E83-178F-A29C-DC7F5E78DA3C}"/>
              </a:ext>
            </a:extLst>
          </p:cNvPr>
          <p:cNvSpPr>
            <a:spLocks noGrp="1"/>
          </p:cNvSpPr>
          <p:nvPr>
            <p:ph idx="1"/>
          </p:nvPr>
        </p:nvSpPr>
        <p:spPr>
          <a:xfrm>
            <a:off x="683047" y="2015732"/>
            <a:ext cx="10840596" cy="4241849"/>
          </a:xfrm>
        </p:spPr>
        <p:txBody>
          <a:bodyPr>
            <a:normAutofit/>
          </a:bodyPr>
          <a:lstStyle/>
          <a:p>
            <a:pPr marL="0" indent="0" algn="just" fontAlgn="base">
              <a:buNone/>
            </a:pPr>
            <a:r>
              <a:rPr lang="en-US" dirty="0"/>
              <a:t>The software process is characterized as inconsistent, and occasionally even chaotic. Defined processes and standard practices that exist are abandoned during a crisis. Success of the organization majorly depends on an individual effort, talent, and heroics. The heroes eventually move on to other organizations taking their wealth of knowledge or lessons learnt with them.</a:t>
            </a:r>
            <a:endParaRPr lang="en-GB"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C3C8CAE-2687-676B-EDC2-57392D97E7BA}"/>
              </a:ext>
            </a:extLst>
          </p:cNvPr>
          <p:cNvSpPr>
            <a:spLocks noGrp="1"/>
          </p:cNvSpPr>
          <p:nvPr>
            <p:ph type="title"/>
          </p:nvPr>
        </p:nvSpPr>
        <p:spPr>
          <a:xfrm>
            <a:off x="1451579" y="804519"/>
            <a:ext cx="10832228" cy="1049235"/>
          </a:xfrm>
        </p:spPr>
        <p:txBody>
          <a:bodyPr>
            <a:normAutofit/>
          </a:bodyPr>
          <a:lstStyle/>
          <a:p>
            <a:r>
              <a:rPr lang="en-GB" sz="3200" b="1" dirty="0">
                <a:latin typeface="Times New Roman" panose="02020603050405020304" pitchFamily="18" charset="0"/>
                <a:cs typeface="Times New Roman" panose="02020603050405020304" pitchFamily="18" charset="0"/>
              </a:rPr>
              <a:t>Level-3: Defined (Standardized processes) </a:t>
            </a:r>
            <a:endParaRPr lang="en-IN" dirty="0"/>
          </a:p>
        </p:txBody>
      </p:sp>
      <p:sp>
        <p:nvSpPr>
          <p:cNvPr id="6" name="Content Placeholder 5">
            <a:extLst>
              <a:ext uri="{FF2B5EF4-FFF2-40B4-BE49-F238E27FC236}">
                <a16:creationId xmlns:a16="http://schemas.microsoft.com/office/drawing/2014/main" id="{BBE986C5-D0E3-2D2F-378E-B1E0AB92621B}"/>
              </a:ext>
            </a:extLst>
          </p:cNvPr>
          <p:cNvSpPr>
            <a:spLocks noGrp="1"/>
          </p:cNvSpPr>
          <p:nvPr>
            <p:ph idx="1"/>
          </p:nvPr>
        </p:nvSpPr>
        <p:spPr>
          <a:xfrm>
            <a:off x="1451579" y="1853754"/>
            <a:ext cx="9603275" cy="4429135"/>
          </a:xfrm>
        </p:spPr>
        <p:txBody>
          <a:bodyPr>
            <a:normAutofit/>
          </a:bodyPr>
          <a:lstStyle/>
          <a:p>
            <a:pPr marL="0" indent="0" algn="just">
              <a:buNone/>
            </a:pPr>
            <a:r>
              <a:rPr lang="en-US" dirty="0"/>
              <a:t>The software process for both management and engineering activities are documented, standardized, and integrated into a standard software process for the entire organization and all projects across the organization use an approved, tailored version of the organization's standard software process for </a:t>
            </a:r>
            <a:r>
              <a:rPr lang="en-US" dirty="0" err="1"/>
              <a:t>developing,testing</a:t>
            </a:r>
            <a:r>
              <a:rPr lang="en-US" dirty="0"/>
              <a:t> and maintaining the application.</a:t>
            </a:r>
            <a:endParaRPr lang="en-IN"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4DA4A4-7191-C9A3-FA3A-D15D6798CC55}"/>
              </a:ext>
            </a:extLst>
          </p:cNvPr>
          <p:cNvSpPr>
            <a:spLocks noGrp="1"/>
          </p:cNvSpPr>
          <p:nvPr>
            <p:ph type="title"/>
          </p:nvPr>
        </p:nvSpPr>
        <p:spPr>
          <a:xfrm>
            <a:off x="1013552" y="804519"/>
            <a:ext cx="11005849" cy="1049235"/>
          </a:xfrm>
        </p:spPr>
        <p:txBody>
          <a:bodyPr>
            <a:normAutofit/>
          </a:bodyPr>
          <a:lstStyle/>
          <a:p>
            <a:r>
              <a:rPr lang="en-GB" sz="3200" b="1" dirty="0">
                <a:latin typeface="Times New Roman" panose="02020603050405020304" pitchFamily="18" charset="0"/>
                <a:cs typeface="Times New Roman" panose="02020603050405020304" pitchFamily="18" charset="0"/>
              </a:rPr>
              <a:t>Level-4: Managed (Quantitative management)</a:t>
            </a:r>
            <a:endParaRPr lang="en-IN" dirty="0"/>
          </a:p>
        </p:txBody>
      </p:sp>
      <p:sp>
        <p:nvSpPr>
          <p:cNvPr id="4" name="Content Placeholder 3">
            <a:extLst>
              <a:ext uri="{FF2B5EF4-FFF2-40B4-BE49-F238E27FC236}">
                <a16:creationId xmlns:a16="http://schemas.microsoft.com/office/drawing/2014/main" id="{91B8B60C-0337-A820-44D7-EC777F394FBE}"/>
              </a:ext>
            </a:extLst>
          </p:cNvPr>
          <p:cNvSpPr>
            <a:spLocks noGrp="1"/>
          </p:cNvSpPr>
          <p:nvPr>
            <p:ph idx="1"/>
          </p:nvPr>
        </p:nvSpPr>
        <p:spPr>
          <a:xfrm>
            <a:off x="1451579" y="2015732"/>
            <a:ext cx="9603275" cy="4037749"/>
          </a:xfrm>
        </p:spPr>
        <p:txBody>
          <a:bodyPr>
            <a:normAutofit/>
          </a:bodyPr>
          <a:lstStyle/>
          <a:p>
            <a:pPr marL="0" indent="0" algn="just">
              <a:buNone/>
            </a:pPr>
            <a:r>
              <a:rPr lang="en-US" dirty="0"/>
              <a:t>Management can effectively control the software development effort using precise measurements. At this level, organization set a quantitative quality goal for both software process and software maintenance. At this maturity level, the performance of processes is controlled using statistical and other quantitative techniques, and is quantitatively predictable.</a:t>
            </a:r>
            <a:endParaRPr lang="en-IN"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378F09-8B71-F91B-CF4C-E3E875BBB177}"/>
              </a:ext>
            </a:extLst>
          </p:cNvPr>
          <p:cNvSpPr>
            <a:spLocks noGrp="1"/>
          </p:cNvSpPr>
          <p:nvPr>
            <p:ph type="title"/>
          </p:nvPr>
        </p:nvSpPr>
        <p:spPr>
          <a:xfrm>
            <a:off x="1112704" y="804519"/>
            <a:ext cx="10355855" cy="1049235"/>
          </a:xfrm>
        </p:spPr>
        <p:txBody>
          <a:bodyPr>
            <a:normAutofit fontScale="90000"/>
          </a:bodyPr>
          <a:lstStyle/>
          <a:p>
            <a:r>
              <a:rPr lang="en-GB" sz="3200" b="1" dirty="0">
                <a:latin typeface="Times New Roman" panose="02020603050405020304" pitchFamily="18" charset="0"/>
                <a:cs typeface="Times New Roman" panose="02020603050405020304" pitchFamily="18" charset="0"/>
              </a:rPr>
              <a:t>Level-5: Optimizing (Continuous improvement)</a:t>
            </a:r>
            <a:br>
              <a:rPr lang="en-GB" sz="3200"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22170318-2C39-EA1A-6E28-3BF629BFDB28}"/>
              </a:ext>
            </a:extLst>
          </p:cNvPr>
          <p:cNvSpPr>
            <a:spLocks noGrp="1"/>
          </p:cNvSpPr>
          <p:nvPr>
            <p:ph idx="1"/>
          </p:nvPr>
        </p:nvSpPr>
        <p:spPr>
          <a:xfrm>
            <a:off x="1451579" y="2015732"/>
            <a:ext cx="9603275" cy="4186763"/>
          </a:xfrm>
        </p:spPr>
        <p:txBody>
          <a:bodyPr>
            <a:normAutofit/>
          </a:bodyPr>
          <a:lstStyle/>
          <a:p>
            <a:pPr marL="0" indent="0" algn="just">
              <a:buNone/>
            </a:pPr>
            <a:r>
              <a:rPr lang="en-US" dirty="0"/>
              <a:t>The Key characteristic of this level is focusing on continually improving process performance through both incremental and innovative technological improvements. At this level, changes to the process are to improve the process performance and at the same time maintaining statistical probability to achieve the established quantitative process-improvement objectives.</a:t>
            </a:r>
            <a:endParaRPr lang="en-IN"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F18B4-9E03-46EB-D39E-1C84CE4494F1}"/>
              </a:ext>
            </a:extLst>
          </p:cNvPr>
          <p:cNvSpPr>
            <a:spLocks noGrp="1"/>
          </p:cNvSpPr>
          <p:nvPr>
            <p:ph type="title"/>
          </p:nvPr>
        </p:nvSpPr>
        <p:spPr/>
        <p:txBody>
          <a:bodyPr/>
          <a:lstStyle/>
          <a:p>
            <a:r>
              <a:rPr lang="en-IN" dirty="0"/>
              <a:t>E-books</a:t>
            </a:r>
          </a:p>
        </p:txBody>
      </p:sp>
      <p:sp>
        <p:nvSpPr>
          <p:cNvPr id="3" name="Content Placeholder 2">
            <a:extLst>
              <a:ext uri="{FF2B5EF4-FFF2-40B4-BE49-F238E27FC236}">
                <a16:creationId xmlns:a16="http://schemas.microsoft.com/office/drawing/2014/main" id="{FA167FAB-2132-AB4C-9042-E4C217491446}"/>
              </a:ext>
            </a:extLst>
          </p:cNvPr>
          <p:cNvSpPr>
            <a:spLocks noGrp="1"/>
          </p:cNvSpPr>
          <p:nvPr>
            <p:ph idx="1"/>
          </p:nvPr>
        </p:nvSpPr>
        <p:spPr/>
        <p:txBody>
          <a:bodyPr/>
          <a:lstStyle/>
          <a:p>
            <a:r>
              <a:rPr lang="en-IN" b="1" dirty="0"/>
              <a:t>Software Engineering- A Practitioner’s Approach </a:t>
            </a:r>
            <a:r>
              <a:rPr lang="en-IN" dirty="0"/>
              <a:t>by </a:t>
            </a:r>
            <a:r>
              <a:rPr lang="en-IN" b="1" dirty="0"/>
              <a:t>Roger S. Pressman</a:t>
            </a:r>
          </a:p>
          <a:p>
            <a:r>
              <a:rPr lang="en-IN" b="1" dirty="0"/>
              <a:t>Software Engineering </a:t>
            </a:r>
            <a:r>
              <a:rPr lang="en-IN" dirty="0"/>
              <a:t>Ninth Edition</a:t>
            </a:r>
            <a:r>
              <a:rPr lang="en-IN" b="1" dirty="0"/>
              <a:t> </a:t>
            </a:r>
            <a:r>
              <a:rPr lang="en-IN" dirty="0"/>
              <a:t>by</a:t>
            </a:r>
            <a:r>
              <a:rPr lang="en-IN" b="1" dirty="0"/>
              <a:t> Ian Sommerville</a:t>
            </a:r>
          </a:p>
          <a:p>
            <a:r>
              <a:rPr lang="en-IN" b="1" dirty="0"/>
              <a:t>Software Engineering</a:t>
            </a:r>
            <a:r>
              <a:rPr lang="en-IN" dirty="0"/>
              <a:t> Third Edition by </a:t>
            </a:r>
            <a:r>
              <a:rPr lang="en-IN" b="1" dirty="0"/>
              <a:t>K.K Aggarwal &amp; Yogesh Singh</a:t>
            </a:r>
          </a:p>
        </p:txBody>
      </p:sp>
    </p:spTree>
    <p:extLst>
      <p:ext uri="{BB962C8B-B14F-4D97-AF65-F5344CB8AC3E}">
        <p14:creationId xmlns:p14="http://schemas.microsoft.com/office/powerpoint/2010/main" val="3076347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50</TotalTime>
  <Words>1682</Words>
  <Application>Microsoft Office PowerPoint</Application>
  <PresentationFormat>Widescreen</PresentationFormat>
  <Paragraphs>127</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AoyagiKouzanFontT</vt:lpstr>
      <vt:lpstr>Arial</vt:lpstr>
      <vt:lpstr>Gill Sans MT</vt:lpstr>
      <vt:lpstr>Söhne</vt:lpstr>
      <vt:lpstr>Times New Roman</vt:lpstr>
      <vt:lpstr>Gallery</vt:lpstr>
      <vt:lpstr>    SOFTWARE ENGINEERING And testing (BCAC 0027) </vt:lpstr>
      <vt:lpstr>PowerPoint Presentation</vt:lpstr>
      <vt:lpstr>Software reliability and quality </vt:lpstr>
      <vt:lpstr>What is reliability in terms of software ?</vt:lpstr>
      <vt:lpstr>Failures and Faults </vt:lpstr>
      <vt:lpstr>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Level-1 Initial (Chaotic, ad-hoc)</vt:lpstr>
      <vt:lpstr>Level-2: Repeatable (Project management)</vt:lpstr>
      <vt:lpstr>Level-3: Defined (Standardized processes) </vt:lpstr>
      <vt:lpstr>Level-4: Managed (Quantitative management)</vt:lpstr>
      <vt:lpstr>Level-5: Optimizing (Continuous improvement) </vt:lpstr>
      <vt:lpstr>E-books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reliability and quality</dc:title>
  <dc:creator>Ananya Gupta</dc:creator>
  <cp:lastModifiedBy>PUNEET SHARMA</cp:lastModifiedBy>
  <cp:revision>12</cp:revision>
  <dcterms:created xsi:type="dcterms:W3CDTF">2024-04-08T16:07:00Z</dcterms:created>
  <dcterms:modified xsi:type="dcterms:W3CDTF">2026-03-20T10:44:04Z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95C50EA6A3F34680AD0B1690EE276159_12</vt:lpwstr>
  </property>
  <property fmtid="{D5CDD505-2E9C-101B-9397-08002B2CF9AE}" pid="3" name="KSOProductBuildVer">
    <vt:lpwstr>1033-12.2.0.16731</vt:lpwstr>
  </property>
</Properties>
</file>